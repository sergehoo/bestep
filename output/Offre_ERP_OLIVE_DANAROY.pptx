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2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ogahserge/Documents/best_epargne/work/source_unpacked/ppt/media/image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0"/>
            <a:ext cx="638251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120640" y="0"/>
            <a:ext cx="7068312" cy="6858000"/>
          </a:xfrm>
          <a:prstGeom prst="rect">
            <a:avLst/>
          </a:prstGeom>
          <a:solidFill>
            <a:srgbClr val="17251C">
              <a:alpha val="52000"/>
            </a:srgbClr>
          </a:solidFill>
          <a:ln w="12700">
            <a:solidFill>
              <a:srgbClr val="17251C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6629400" cy="6858000"/>
          </a:xfrm>
          <a:prstGeom prst="rect">
            <a:avLst/>
          </a:prstGeom>
          <a:solidFill>
            <a:srgbClr val="17251C"/>
          </a:solidFill>
          <a:ln w="12700">
            <a:solidFill>
              <a:srgbClr val="17251C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85216" y="420624"/>
            <a:ext cx="1865376" cy="1554480"/>
          </a:xfrm>
          <a:prstGeom prst="roundRect">
            <a:avLst>
              <a:gd name="adj" fmla="val 3529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" name="Image 1" descr="/Users/ogahserge/Documents/best_epargne/work/source_unpacked/ppt/media/image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530352"/>
            <a:ext cx="1645920" cy="1335024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58368" y="1993392"/>
            <a:ext cx="2852928" cy="310896"/>
          </a:xfrm>
          <a:prstGeom prst="roundRect">
            <a:avLst>
              <a:gd name="adj" fmla="val 23529"/>
            </a:avLst>
          </a:prstGeom>
          <a:solidFill>
            <a:srgbClr val="397443"/>
          </a:solidFill>
          <a:ln w="12700">
            <a:solidFill>
              <a:srgbClr val="397443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31520" y="2057400"/>
            <a:ext cx="2706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PROPOSITION TECHNIQUE &amp; FINANCIÈRE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658368" y="2542032"/>
            <a:ext cx="5349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ERP DE GESTION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INTÉGRÉ</a:t>
            </a:r>
            <a:endParaRPr lang="en-US" sz="3800" dirty="0"/>
          </a:p>
        </p:txBody>
      </p:sp>
      <p:sp>
        <p:nvSpPr>
          <p:cNvPr id="10" name="Text 6"/>
          <p:cNvSpPr/>
          <p:nvPr/>
        </p:nvSpPr>
        <p:spPr>
          <a:xfrm>
            <a:off x="676656" y="4160520"/>
            <a:ext cx="4800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EAF2EB"/>
                </a:solidFill>
              </a:rPr>
              <a:t>Une plateforme unique pour piloter les projets, les ventes, les opérations et la rentabilité de toutes les activités d’OLIVE DANAROY.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676656" y="533095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80" kern="0" dirty="0">
                <a:solidFill>
                  <a:srgbClr val="E9D928"/>
                </a:solidFill>
              </a:rPr>
              <a:t>PRÉPARÉ POUR</a:t>
            </a:r>
            <a:endParaRPr lang="en-US" sz="850" dirty="0"/>
          </a:p>
        </p:txBody>
      </p:sp>
      <p:sp>
        <p:nvSpPr>
          <p:cNvPr id="12" name="Text 8"/>
          <p:cNvSpPr/>
          <p:nvPr/>
        </p:nvSpPr>
        <p:spPr>
          <a:xfrm>
            <a:off x="676656" y="55778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OLIVE DANAROY SARLU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76656" y="59253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CCABD"/>
                </a:solidFill>
              </a:rPr>
              <a:t>16 juillet 2026 • Abidjan, Côte d’Ivoire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7635240" y="6345936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130" kern="0" dirty="0">
                <a:solidFill>
                  <a:srgbClr val="FFFFFF"/>
                </a:solidFill>
              </a:rPr>
              <a:t>DOCUMENT DE TRAVAIL — VALIDITÉ 30 JOURS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80" kern="0" dirty="0">
                <a:solidFill>
                  <a:srgbClr val="397443"/>
                </a:solidFill>
              </a:rPr>
              <a:t>DÉCISION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640080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51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Synthèse de l’offre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03504" y="109728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159"/>
                </a:solidFill>
              </a:rPr>
              <a:t>Un ERP modulaire, déployé par étapes, avec un pilotage financier consolidé.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6510528"/>
            <a:ext cx="4846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7180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OFFRE ERP • OLIVE DANAROY • JUILLET 2026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155680" y="6473952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180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94360" y="1645920"/>
            <a:ext cx="64922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0160">
            <a:solidFill>
              <a:srgbClr val="D8E3D9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95528" y="1847088"/>
            <a:ext cx="457200" cy="457200"/>
          </a:xfrm>
          <a:prstGeom prst="ellipse">
            <a:avLst/>
          </a:prstGeom>
          <a:solidFill>
            <a:srgbClr val="397443"/>
          </a:solidFill>
          <a:ln w="12700">
            <a:solidFill>
              <a:srgbClr val="39744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" y="1952244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380744" y="1856232"/>
            <a:ext cx="5504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251C"/>
                </a:solidFill>
              </a:rPr>
              <a:t>Objectif prioritaire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13816" y="2267712"/>
            <a:ext cx="6053328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26159"/>
                </a:solidFill>
              </a:rPr>
              <a:t>Remplacer les fichiers dispersés et les suivis manuels par une base de données commune, des circuits de validation et des tableaux de bord fiables pour chaque activité.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60920" y="1645920"/>
            <a:ext cx="4224528" cy="1965960"/>
          </a:xfrm>
          <a:prstGeom prst="roundRect">
            <a:avLst>
              <a:gd name="adj" fmla="val 3721"/>
            </a:avLst>
          </a:prstGeom>
          <a:solidFill>
            <a:srgbClr val="234E2B"/>
          </a:solidFill>
          <a:ln w="12700">
            <a:solidFill>
              <a:srgbClr val="234E2B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680960" y="2029968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FFFFFF"/>
                </a:solidFill>
              </a:rPr>
              <a:t>36,85 M FCFA</a:t>
            </a:r>
            <a:endParaRPr lang="en-US" sz="3100" dirty="0"/>
          </a:p>
        </p:txBody>
      </p:sp>
      <p:sp>
        <p:nvSpPr>
          <p:cNvPr id="14" name="Text 12"/>
          <p:cNvSpPr/>
          <p:nvPr/>
        </p:nvSpPr>
        <p:spPr>
          <a:xfrm>
            <a:off x="7653528" y="27249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E9D928"/>
                </a:solidFill>
              </a:rPr>
              <a:t>BUDGET FORFAITAIRE INDICATIF • HT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726680" y="3108960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AF2EB"/>
                </a:solidFill>
              </a:rPr>
              <a:t>Hors hébergement, support récurrent et services tiers.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85800" y="4041648"/>
            <a:ext cx="2578608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D8E3D9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05256" y="4315968"/>
            <a:ext cx="21396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34E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24 semaines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905256" y="4837176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26159"/>
                </a:solidFill>
              </a:rPr>
              <a:t>cadrage jusqu’à la mise en production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520440" y="4041648"/>
            <a:ext cx="2578608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D8E3D9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739896" y="4315968"/>
            <a:ext cx="21396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3974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50 utilisateurs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3739896" y="4837176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26159"/>
                </a:solidFill>
              </a:rPr>
              <a:t>hypothèse de dimensionnement initial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355080" y="4041648"/>
            <a:ext cx="2578608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D8E3D9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74536" y="4315968"/>
            <a:ext cx="21396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3974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 sites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6574536" y="4837176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26159"/>
                </a:solidFill>
              </a:rPr>
              <a:t>siège et implantations opérationnelles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189720" y="4041648"/>
            <a:ext cx="2578608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D8E3D9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409176" y="4315968"/>
            <a:ext cx="21396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3974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 semaines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9409176" y="4837176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26159"/>
                </a:solidFill>
              </a:rPr>
              <a:t>d’accompagnement renforcé après lancement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85800" y="592531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D69A22"/>
                </a:solidFill>
              </a:rPr>
              <a:t>RECOMMANDATION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2103120" y="5879592"/>
            <a:ext cx="9235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51C"/>
                </a:solidFill>
              </a:rPr>
              <a:t>Lancer d’abord le socle commun et le BTP, puis activer les modules restaurant, salles et lavage auto sur la même plateforme.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80" kern="0" dirty="0">
                <a:solidFill>
                  <a:srgbClr val="397443"/>
                </a:solidFill>
              </a:rPr>
              <a:t>PÉRIMÈTRE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640080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51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Toutes les activités réunies dans un seul système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03504" y="109728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159"/>
                </a:solidFill>
              </a:rPr>
              <a:t>Le socle commun évite les doubles saisies tout en conservant les processus propres à chaque métier.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6510528"/>
            <a:ext cx="4846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7180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OFFRE ERP • OLIVE DANAROY • JUILLET 2026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155680" y="6473952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180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21792" y="1627632"/>
            <a:ext cx="2075688" cy="1618488"/>
          </a:xfrm>
          <a:prstGeom prst="roundRect">
            <a:avLst>
              <a:gd name="adj" fmla="val 4520"/>
            </a:avLst>
          </a:prstGeom>
          <a:solidFill>
            <a:srgbClr val="FFFFFF"/>
          </a:solidFill>
          <a:ln w="10160">
            <a:solidFill>
              <a:srgbClr val="D8E3D9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1828800"/>
            <a:ext cx="420624" cy="420624"/>
          </a:xfrm>
          <a:prstGeom prst="ellipse">
            <a:avLst/>
          </a:prstGeom>
          <a:solidFill>
            <a:srgbClr val="234E2B"/>
          </a:solidFill>
          <a:ln w="12700">
            <a:solidFill>
              <a:srgbClr val="234E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925544"/>
            <a:ext cx="420624" cy="117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8" b="1" dirty="0">
                <a:solidFill>
                  <a:srgbClr val="FFFFFF"/>
                </a:solidFill>
              </a:rPr>
              <a:t>BT</a:t>
            </a:r>
            <a:endParaRPr lang="en-US" sz="828" dirty="0"/>
          </a:p>
        </p:txBody>
      </p:sp>
      <p:sp>
        <p:nvSpPr>
          <p:cNvPr id="10" name="Text 8"/>
          <p:cNvSpPr/>
          <p:nvPr/>
        </p:nvSpPr>
        <p:spPr>
          <a:xfrm>
            <a:off x="1408176" y="1837944"/>
            <a:ext cx="1088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7251C"/>
                </a:solidFill>
              </a:rPr>
              <a:t>BTP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841248" y="2249424"/>
            <a:ext cx="1636776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26159"/>
                </a:solidFill>
              </a:rPr>
              <a:t>Chantiers, budgets, sous-traitance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944368" y="1627632"/>
            <a:ext cx="2075688" cy="1618488"/>
          </a:xfrm>
          <a:prstGeom prst="roundRect">
            <a:avLst>
              <a:gd name="adj" fmla="val 4520"/>
            </a:avLst>
          </a:prstGeom>
          <a:solidFill>
            <a:srgbClr val="FFFFFF"/>
          </a:solidFill>
          <a:ln w="10160">
            <a:solidFill>
              <a:srgbClr val="D8E3D9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45536" y="1828800"/>
            <a:ext cx="420624" cy="420624"/>
          </a:xfrm>
          <a:prstGeom prst="ellipse">
            <a:avLst/>
          </a:prstGeom>
          <a:solidFill>
            <a:srgbClr val="234E2B"/>
          </a:solidFill>
          <a:ln w="12700">
            <a:solidFill>
              <a:srgbClr val="234E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45536" y="1925544"/>
            <a:ext cx="420624" cy="117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8" b="1" dirty="0">
                <a:solidFill>
                  <a:srgbClr val="FFFFFF"/>
                </a:solidFill>
              </a:rPr>
              <a:t>CM</a:t>
            </a:r>
            <a:endParaRPr lang="en-US" sz="828" dirty="0"/>
          </a:p>
        </p:txBody>
      </p:sp>
      <p:sp>
        <p:nvSpPr>
          <p:cNvPr id="15" name="Text 13"/>
          <p:cNvSpPr/>
          <p:nvPr/>
        </p:nvSpPr>
        <p:spPr>
          <a:xfrm>
            <a:off x="3730752" y="1837944"/>
            <a:ext cx="1088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7251C"/>
                </a:solidFill>
              </a:rPr>
              <a:t>Communication</a:t>
            </a:r>
            <a:endParaRPr lang="en-US" sz="1320" dirty="0"/>
          </a:p>
        </p:txBody>
      </p:sp>
      <p:sp>
        <p:nvSpPr>
          <p:cNvPr id="16" name="Text 14"/>
          <p:cNvSpPr/>
          <p:nvPr/>
        </p:nvSpPr>
        <p:spPr>
          <a:xfrm>
            <a:off x="3163824" y="2249424"/>
            <a:ext cx="1636776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26159"/>
                </a:solidFill>
              </a:rPr>
              <a:t>Création, production, campagnes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266944" y="1627632"/>
            <a:ext cx="2075688" cy="1618488"/>
          </a:xfrm>
          <a:prstGeom prst="roundRect">
            <a:avLst>
              <a:gd name="adj" fmla="val 4520"/>
            </a:avLst>
          </a:prstGeom>
          <a:solidFill>
            <a:srgbClr val="FFFFFF"/>
          </a:solidFill>
          <a:ln w="10160">
            <a:solidFill>
              <a:srgbClr val="D8E3D9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68112" y="1828800"/>
            <a:ext cx="420624" cy="420624"/>
          </a:xfrm>
          <a:prstGeom prst="ellipse">
            <a:avLst/>
          </a:prstGeom>
          <a:solidFill>
            <a:srgbClr val="234E2B"/>
          </a:solidFill>
          <a:ln w="12700">
            <a:solidFill>
              <a:srgbClr val="234E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68112" y="1925544"/>
            <a:ext cx="420624" cy="117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8" b="1" dirty="0">
                <a:solidFill>
                  <a:srgbClr val="FFFFFF"/>
                </a:solidFill>
              </a:rPr>
              <a:t>IT</a:t>
            </a:r>
            <a:endParaRPr lang="en-US" sz="828" dirty="0"/>
          </a:p>
        </p:txBody>
      </p:sp>
      <p:sp>
        <p:nvSpPr>
          <p:cNvPr id="20" name="Text 18"/>
          <p:cNvSpPr/>
          <p:nvPr/>
        </p:nvSpPr>
        <p:spPr>
          <a:xfrm>
            <a:off x="6053328" y="1837944"/>
            <a:ext cx="1088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7251C"/>
                </a:solidFill>
              </a:rPr>
              <a:t>Informatique</a:t>
            </a:r>
            <a:endParaRPr lang="en-US" sz="1320" dirty="0"/>
          </a:p>
        </p:txBody>
      </p:sp>
      <p:sp>
        <p:nvSpPr>
          <p:cNvPr id="21" name="Text 19"/>
          <p:cNvSpPr/>
          <p:nvPr/>
        </p:nvSpPr>
        <p:spPr>
          <a:xfrm>
            <a:off x="5486400" y="2249424"/>
            <a:ext cx="1636776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26159"/>
                </a:solidFill>
              </a:rPr>
              <a:t>Matériels, logiciels, SAV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589520" y="1627632"/>
            <a:ext cx="2075688" cy="1618488"/>
          </a:xfrm>
          <a:prstGeom prst="roundRect">
            <a:avLst>
              <a:gd name="adj" fmla="val 4520"/>
            </a:avLst>
          </a:prstGeom>
          <a:solidFill>
            <a:srgbClr val="FFFFFF"/>
          </a:solidFill>
          <a:ln w="10160">
            <a:solidFill>
              <a:srgbClr val="D8E3D9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790688" y="1828800"/>
            <a:ext cx="420624" cy="420624"/>
          </a:xfrm>
          <a:prstGeom prst="ellipse">
            <a:avLst/>
          </a:prstGeom>
          <a:solidFill>
            <a:srgbClr val="234E2B"/>
          </a:solidFill>
          <a:ln w="12700">
            <a:solidFill>
              <a:srgbClr val="234E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90688" y="1925544"/>
            <a:ext cx="420624" cy="117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8" b="1" dirty="0">
                <a:solidFill>
                  <a:srgbClr val="FFFFFF"/>
                </a:solidFill>
              </a:rPr>
              <a:t>BU</a:t>
            </a:r>
            <a:endParaRPr lang="en-US" sz="828" dirty="0"/>
          </a:p>
        </p:txBody>
      </p:sp>
      <p:sp>
        <p:nvSpPr>
          <p:cNvPr id="25" name="Text 23"/>
          <p:cNvSpPr/>
          <p:nvPr/>
        </p:nvSpPr>
        <p:spPr>
          <a:xfrm>
            <a:off x="8375904" y="1837944"/>
            <a:ext cx="1088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7251C"/>
                </a:solidFill>
              </a:rPr>
              <a:t>Bureautique</a:t>
            </a:r>
            <a:endParaRPr lang="en-US" sz="1320" dirty="0"/>
          </a:p>
        </p:txBody>
      </p:sp>
      <p:sp>
        <p:nvSpPr>
          <p:cNvPr id="26" name="Text 24"/>
          <p:cNvSpPr/>
          <p:nvPr/>
        </p:nvSpPr>
        <p:spPr>
          <a:xfrm>
            <a:off x="7808976" y="2249424"/>
            <a:ext cx="1636776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26159"/>
                </a:solidFill>
              </a:rPr>
              <a:t>Mobilier, consommables, stock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9912096" y="1627632"/>
            <a:ext cx="2075688" cy="1618488"/>
          </a:xfrm>
          <a:prstGeom prst="roundRect">
            <a:avLst>
              <a:gd name="adj" fmla="val 4520"/>
            </a:avLst>
          </a:prstGeom>
          <a:solidFill>
            <a:srgbClr val="FFFFFF"/>
          </a:solidFill>
          <a:ln w="10160">
            <a:solidFill>
              <a:srgbClr val="D8E3D9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10113264" y="1828800"/>
            <a:ext cx="420624" cy="420624"/>
          </a:xfrm>
          <a:prstGeom prst="ellipse">
            <a:avLst/>
          </a:prstGeom>
          <a:solidFill>
            <a:srgbClr val="234E2B"/>
          </a:solidFill>
          <a:ln w="12700">
            <a:solidFill>
              <a:srgbClr val="234E2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113264" y="1925544"/>
            <a:ext cx="420624" cy="117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8" b="1" dirty="0">
                <a:solidFill>
                  <a:srgbClr val="FFFFFF"/>
                </a:solidFill>
              </a:rPr>
              <a:t>TR</a:t>
            </a:r>
            <a:endParaRPr lang="en-US" sz="828" dirty="0"/>
          </a:p>
        </p:txBody>
      </p:sp>
      <p:sp>
        <p:nvSpPr>
          <p:cNvPr id="30" name="Text 28"/>
          <p:cNvSpPr/>
          <p:nvPr/>
        </p:nvSpPr>
        <p:spPr>
          <a:xfrm>
            <a:off x="10698480" y="1837944"/>
            <a:ext cx="1088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7251C"/>
                </a:solidFill>
              </a:rPr>
              <a:t>Transport</a:t>
            </a:r>
            <a:endParaRPr lang="en-US" sz="1320" dirty="0"/>
          </a:p>
        </p:txBody>
      </p:sp>
      <p:sp>
        <p:nvSpPr>
          <p:cNvPr id="31" name="Text 29"/>
          <p:cNvSpPr/>
          <p:nvPr/>
        </p:nvSpPr>
        <p:spPr>
          <a:xfrm>
            <a:off x="10131552" y="2249424"/>
            <a:ext cx="1636776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26159"/>
                </a:solidFill>
              </a:rPr>
              <a:t>Flotte, missions, livraisons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21792" y="3602736"/>
            <a:ext cx="2075688" cy="1618488"/>
          </a:xfrm>
          <a:prstGeom prst="roundRect">
            <a:avLst>
              <a:gd name="adj" fmla="val 4520"/>
            </a:avLst>
          </a:prstGeom>
          <a:solidFill>
            <a:srgbClr val="FFFFFF"/>
          </a:solidFill>
          <a:ln w="10160">
            <a:solidFill>
              <a:srgbClr val="D8E3D9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22960" y="3803904"/>
            <a:ext cx="420624" cy="420624"/>
          </a:xfrm>
          <a:prstGeom prst="ellipse">
            <a:avLst/>
          </a:prstGeom>
          <a:solidFill>
            <a:srgbClr val="397443"/>
          </a:solidFill>
          <a:ln w="12700">
            <a:solidFill>
              <a:srgbClr val="39744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2960" y="3900648"/>
            <a:ext cx="420624" cy="117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8" b="1" dirty="0">
                <a:solidFill>
                  <a:srgbClr val="FFFFFF"/>
                </a:solidFill>
              </a:rPr>
              <a:t>RE</a:t>
            </a:r>
            <a:endParaRPr lang="en-US" sz="828" dirty="0"/>
          </a:p>
        </p:txBody>
      </p:sp>
      <p:sp>
        <p:nvSpPr>
          <p:cNvPr id="35" name="Text 33"/>
          <p:cNvSpPr/>
          <p:nvPr/>
        </p:nvSpPr>
        <p:spPr>
          <a:xfrm>
            <a:off x="1408176" y="3813048"/>
            <a:ext cx="1088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7251C"/>
                </a:solidFill>
              </a:rPr>
              <a:t>Restaurant</a:t>
            </a:r>
            <a:endParaRPr lang="en-US" sz="1320" dirty="0"/>
          </a:p>
        </p:txBody>
      </p:sp>
      <p:sp>
        <p:nvSpPr>
          <p:cNvPr id="36" name="Text 34"/>
          <p:cNvSpPr/>
          <p:nvPr/>
        </p:nvSpPr>
        <p:spPr>
          <a:xfrm>
            <a:off x="841248" y="4224528"/>
            <a:ext cx="1636776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26159"/>
                </a:solidFill>
              </a:rPr>
              <a:t>Caisse, cuisine, recettes, stock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2944368" y="3602736"/>
            <a:ext cx="2075688" cy="1618488"/>
          </a:xfrm>
          <a:prstGeom prst="roundRect">
            <a:avLst>
              <a:gd name="adj" fmla="val 4520"/>
            </a:avLst>
          </a:prstGeom>
          <a:solidFill>
            <a:srgbClr val="FFFFFF"/>
          </a:solidFill>
          <a:ln w="10160">
            <a:solidFill>
              <a:srgbClr val="D8E3D9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145536" y="3803904"/>
            <a:ext cx="420624" cy="420624"/>
          </a:xfrm>
          <a:prstGeom prst="ellipse">
            <a:avLst/>
          </a:prstGeom>
          <a:solidFill>
            <a:srgbClr val="397443"/>
          </a:solidFill>
          <a:ln w="12700">
            <a:solidFill>
              <a:srgbClr val="39744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145536" y="3900648"/>
            <a:ext cx="420624" cy="117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8" b="1" dirty="0">
                <a:solidFill>
                  <a:srgbClr val="FFFFFF"/>
                </a:solidFill>
              </a:rPr>
              <a:t>EV</a:t>
            </a:r>
            <a:endParaRPr lang="en-US" sz="828" dirty="0"/>
          </a:p>
        </p:txBody>
      </p:sp>
      <p:sp>
        <p:nvSpPr>
          <p:cNvPr id="40" name="Text 38"/>
          <p:cNvSpPr/>
          <p:nvPr/>
        </p:nvSpPr>
        <p:spPr>
          <a:xfrm>
            <a:off x="3730752" y="3813048"/>
            <a:ext cx="1088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7251C"/>
                </a:solidFill>
              </a:rPr>
              <a:t>Salles</a:t>
            </a:r>
            <a:endParaRPr lang="en-US" sz="1320" dirty="0"/>
          </a:p>
        </p:txBody>
      </p:sp>
      <p:sp>
        <p:nvSpPr>
          <p:cNvPr id="41" name="Text 39"/>
          <p:cNvSpPr/>
          <p:nvPr/>
        </p:nvSpPr>
        <p:spPr>
          <a:xfrm>
            <a:off x="3163824" y="4224528"/>
            <a:ext cx="1636776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26159"/>
                </a:solidFill>
              </a:rPr>
              <a:t>Calendrier, réservation, acomptes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266944" y="3602736"/>
            <a:ext cx="2075688" cy="1618488"/>
          </a:xfrm>
          <a:prstGeom prst="roundRect">
            <a:avLst>
              <a:gd name="adj" fmla="val 4520"/>
            </a:avLst>
          </a:prstGeom>
          <a:solidFill>
            <a:srgbClr val="FFFFFF"/>
          </a:solidFill>
          <a:ln w="10160">
            <a:solidFill>
              <a:srgbClr val="D8E3D9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5468112" y="3803904"/>
            <a:ext cx="420624" cy="420624"/>
          </a:xfrm>
          <a:prstGeom prst="ellipse">
            <a:avLst/>
          </a:prstGeom>
          <a:solidFill>
            <a:srgbClr val="397443"/>
          </a:solidFill>
          <a:ln w="12700">
            <a:solidFill>
              <a:srgbClr val="39744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468112" y="3900648"/>
            <a:ext cx="420624" cy="117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8" b="1" dirty="0">
                <a:solidFill>
                  <a:srgbClr val="FFFFFF"/>
                </a:solidFill>
              </a:rPr>
              <a:t>LA</a:t>
            </a:r>
            <a:endParaRPr lang="en-US" sz="828" dirty="0"/>
          </a:p>
        </p:txBody>
      </p:sp>
      <p:sp>
        <p:nvSpPr>
          <p:cNvPr id="45" name="Text 43"/>
          <p:cNvSpPr/>
          <p:nvPr/>
        </p:nvSpPr>
        <p:spPr>
          <a:xfrm>
            <a:off x="6053328" y="3813048"/>
            <a:ext cx="1088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7251C"/>
                </a:solidFill>
              </a:rPr>
              <a:t>Lavage auto</a:t>
            </a:r>
            <a:endParaRPr lang="en-US" sz="1320" dirty="0"/>
          </a:p>
        </p:txBody>
      </p:sp>
      <p:sp>
        <p:nvSpPr>
          <p:cNvPr id="46" name="Text 44"/>
          <p:cNvSpPr/>
          <p:nvPr/>
        </p:nvSpPr>
        <p:spPr>
          <a:xfrm>
            <a:off x="5486400" y="4224528"/>
            <a:ext cx="1636776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26159"/>
                </a:solidFill>
              </a:rPr>
              <a:t>Tickets, files, forfaits, abonnements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7589520" y="3602736"/>
            <a:ext cx="2075688" cy="1618488"/>
          </a:xfrm>
          <a:prstGeom prst="roundRect">
            <a:avLst>
              <a:gd name="adj" fmla="val 4520"/>
            </a:avLst>
          </a:prstGeom>
          <a:solidFill>
            <a:srgbClr val="FFFFFF"/>
          </a:solidFill>
          <a:ln w="10160">
            <a:solidFill>
              <a:srgbClr val="D8E3D9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7790688" y="3803904"/>
            <a:ext cx="420624" cy="420624"/>
          </a:xfrm>
          <a:prstGeom prst="ellipse">
            <a:avLst/>
          </a:prstGeom>
          <a:solidFill>
            <a:srgbClr val="397443"/>
          </a:solidFill>
          <a:ln w="12700">
            <a:solidFill>
              <a:srgbClr val="39744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790688" y="3900648"/>
            <a:ext cx="420624" cy="117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8" b="1" dirty="0">
                <a:solidFill>
                  <a:srgbClr val="FFFFFF"/>
                </a:solidFill>
              </a:rPr>
              <a:t>TC</a:t>
            </a:r>
            <a:endParaRPr lang="en-US" sz="828" dirty="0"/>
          </a:p>
        </p:txBody>
      </p:sp>
      <p:sp>
        <p:nvSpPr>
          <p:cNvPr id="50" name="Text 48"/>
          <p:cNvSpPr/>
          <p:nvPr/>
        </p:nvSpPr>
        <p:spPr>
          <a:xfrm>
            <a:off x="8375904" y="3813048"/>
            <a:ext cx="1088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7251C"/>
                </a:solidFill>
              </a:rPr>
              <a:t>Traiteur</a:t>
            </a:r>
            <a:endParaRPr lang="en-US" sz="1320" dirty="0"/>
          </a:p>
        </p:txBody>
      </p:sp>
      <p:sp>
        <p:nvSpPr>
          <p:cNvPr id="51" name="Text 49"/>
          <p:cNvSpPr/>
          <p:nvPr/>
        </p:nvSpPr>
        <p:spPr>
          <a:xfrm>
            <a:off x="7808976" y="4224528"/>
            <a:ext cx="1636776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26159"/>
                </a:solidFill>
              </a:rPr>
              <a:t>Devis, menus, production, événement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9912096" y="3602736"/>
            <a:ext cx="2075688" cy="1618488"/>
          </a:xfrm>
          <a:prstGeom prst="roundRect">
            <a:avLst>
              <a:gd name="adj" fmla="val 4520"/>
            </a:avLst>
          </a:prstGeom>
          <a:solidFill>
            <a:srgbClr val="FFFFFF"/>
          </a:solidFill>
          <a:ln w="10160">
            <a:solidFill>
              <a:srgbClr val="D8E3D9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10113264" y="3803904"/>
            <a:ext cx="420624" cy="420624"/>
          </a:xfrm>
          <a:prstGeom prst="ellipse">
            <a:avLst/>
          </a:prstGeom>
          <a:solidFill>
            <a:srgbClr val="397443"/>
          </a:solidFill>
          <a:ln w="12700">
            <a:solidFill>
              <a:srgbClr val="39744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113264" y="3900648"/>
            <a:ext cx="420624" cy="117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8" b="1" dirty="0">
                <a:solidFill>
                  <a:srgbClr val="FFFFFF"/>
                </a:solidFill>
              </a:rPr>
              <a:t>RS</a:t>
            </a:r>
            <a:endParaRPr lang="en-US" sz="828" dirty="0"/>
          </a:p>
        </p:txBody>
      </p:sp>
      <p:sp>
        <p:nvSpPr>
          <p:cNvPr id="55" name="Text 53"/>
          <p:cNvSpPr/>
          <p:nvPr/>
        </p:nvSpPr>
        <p:spPr>
          <a:xfrm>
            <a:off x="10698480" y="3813048"/>
            <a:ext cx="1088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7251C"/>
                </a:solidFill>
              </a:rPr>
              <a:t>Résidences</a:t>
            </a:r>
            <a:endParaRPr lang="en-US" sz="1320" dirty="0"/>
          </a:p>
        </p:txBody>
      </p:sp>
      <p:sp>
        <p:nvSpPr>
          <p:cNvPr id="56" name="Text 54"/>
          <p:cNvSpPr/>
          <p:nvPr/>
        </p:nvSpPr>
        <p:spPr>
          <a:xfrm>
            <a:off x="10131552" y="4224528"/>
            <a:ext cx="1636776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26159"/>
                </a:solidFill>
              </a:rPr>
              <a:t>Réservations, séjours, facturation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621792" y="5669280"/>
            <a:ext cx="10991088" cy="502920"/>
          </a:xfrm>
          <a:prstGeom prst="roundRect">
            <a:avLst>
              <a:gd name="adj" fmla="val 9091"/>
            </a:avLst>
          </a:prstGeom>
          <a:solidFill>
            <a:srgbClr val="E6EFE7"/>
          </a:solidFill>
          <a:ln w="12700">
            <a:solidFill>
              <a:srgbClr val="E6EFE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77824" y="5833872"/>
            <a:ext cx="10497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34E2B"/>
                </a:solidFill>
              </a:rPr>
              <a:t>Un référentiel partagé : clients • fournisseurs • articles • collaborateurs • caisses • banques • centres de coûts • documents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72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80" kern="0" dirty="0">
                <a:solidFill>
                  <a:srgbClr val="E9D928"/>
                </a:solidFill>
              </a:rPr>
              <a:t>CIBLE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640080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Une donnée saisie une fois, exploitée partout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03504" y="109728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6E5D8"/>
                </a:solidFill>
              </a:rPr>
              <a:t>Chaque opération métier alimente automatiquement la trésorerie, la comptabilité et les indicateurs de gestion.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6510528"/>
            <a:ext cx="4846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D8E5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OFFRE ERP • OLIVE DANAROY • JUILLET 2026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155680" y="6473952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8E5D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58952" y="1664208"/>
            <a:ext cx="493776" cy="493776"/>
          </a:xfrm>
          <a:prstGeom prst="ellipse">
            <a:avLst/>
          </a:prstGeom>
          <a:solidFill>
            <a:srgbClr val="9DB43B"/>
          </a:solidFill>
          <a:ln w="12700">
            <a:solidFill>
              <a:srgbClr val="9DB4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777776"/>
            <a:ext cx="493776" cy="1382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2" b="1" dirty="0">
                <a:solidFill>
                  <a:srgbClr val="FFFFFF"/>
                </a:solidFill>
              </a:rPr>
              <a:t>BT</a:t>
            </a:r>
            <a:endParaRPr lang="en-US" sz="972" dirty="0"/>
          </a:p>
        </p:txBody>
      </p:sp>
      <p:sp>
        <p:nvSpPr>
          <p:cNvPr id="9" name="Text 7"/>
          <p:cNvSpPr/>
          <p:nvPr/>
        </p:nvSpPr>
        <p:spPr>
          <a:xfrm>
            <a:off x="1417320" y="178308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Chantier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907792" y="1737360"/>
            <a:ext cx="475488" cy="347472"/>
          </a:xfrm>
          <a:prstGeom prst="chevron">
            <a:avLst/>
          </a:prstGeom>
          <a:solidFill>
            <a:srgbClr val="6A8D6E">
              <a:alpha val="92000"/>
            </a:srgbClr>
          </a:solidFill>
          <a:ln w="12700">
            <a:solidFill>
              <a:srgbClr val="6A8D6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58952" y="2514600"/>
            <a:ext cx="493776" cy="493776"/>
          </a:xfrm>
          <a:prstGeom prst="ellipse">
            <a:avLst/>
          </a:prstGeom>
          <a:solidFill>
            <a:srgbClr val="397443"/>
          </a:solidFill>
          <a:ln w="12700">
            <a:solidFill>
              <a:srgbClr val="39744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8952" y="2628168"/>
            <a:ext cx="493776" cy="1382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2" b="1" dirty="0">
                <a:solidFill>
                  <a:srgbClr val="FFFFFF"/>
                </a:solidFill>
              </a:rPr>
              <a:t>RE</a:t>
            </a:r>
            <a:endParaRPr lang="en-US" sz="972" dirty="0"/>
          </a:p>
        </p:txBody>
      </p:sp>
      <p:sp>
        <p:nvSpPr>
          <p:cNvPr id="13" name="Text 11"/>
          <p:cNvSpPr/>
          <p:nvPr/>
        </p:nvSpPr>
        <p:spPr>
          <a:xfrm>
            <a:off x="1417320" y="263347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Restaurant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907792" y="2587752"/>
            <a:ext cx="475488" cy="347472"/>
          </a:xfrm>
          <a:prstGeom prst="chevron">
            <a:avLst/>
          </a:prstGeom>
          <a:solidFill>
            <a:srgbClr val="6A8D6E">
              <a:alpha val="92000"/>
            </a:srgbClr>
          </a:solidFill>
          <a:ln w="12700">
            <a:solidFill>
              <a:srgbClr val="6A8D6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58952" y="3364992"/>
            <a:ext cx="493776" cy="493776"/>
          </a:xfrm>
          <a:prstGeom prst="ellipse">
            <a:avLst/>
          </a:prstGeom>
          <a:solidFill>
            <a:srgbClr val="9DB43B"/>
          </a:solidFill>
          <a:ln w="12700">
            <a:solidFill>
              <a:srgbClr val="9DB4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8952" y="3478560"/>
            <a:ext cx="493776" cy="1382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2" b="1" dirty="0">
                <a:solidFill>
                  <a:srgbClr val="FFFFFF"/>
                </a:solidFill>
              </a:rPr>
              <a:t>EV</a:t>
            </a:r>
            <a:endParaRPr lang="en-US" sz="972" dirty="0"/>
          </a:p>
        </p:txBody>
      </p:sp>
      <p:sp>
        <p:nvSpPr>
          <p:cNvPr id="17" name="Text 15"/>
          <p:cNvSpPr/>
          <p:nvPr/>
        </p:nvSpPr>
        <p:spPr>
          <a:xfrm>
            <a:off x="1417320" y="3483864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Événement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2907792" y="3438144"/>
            <a:ext cx="475488" cy="347472"/>
          </a:xfrm>
          <a:prstGeom prst="chevron">
            <a:avLst/>
          </a:prstGeom>
          <a:solidFill>
            <a:srgbClr val="6A8D6E">
              <a:alpha val="92000"/>
            </a:srgbClr>
          </a:solidFill>
          <a:ln w="12700">
            <a:solidFill>
              <a:srgbClr val="6A8D6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4215384"/>
            <a:ext cx="493776" cy="493776"/>
          </a:xfrm>
          <a:prstGeom prst="ellipse">
            <a:avLst/>
          </a:prstGeom>
          <a:solidFill>
            <a:srgbClr val="397443"/>
          </a:solidFill>
          <a:ln w="12700">
            <a:solidFill>
              <a:srgbClr val="39744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8952" y="4328952"/>
            <a:ext cx="493776" cy="1382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2" b="1" dirty="0">
                <a:solidFill>
                  <a:srgbClr val="FFFFFF"/>
                </a:solidFill>
              </a:rPr>
              <a:t>TR</a:t>
            </a:r>
            <a:endParaRPr lang="en-US" sz="972" dirty="0"/>
          </a:p>
        </p:txBody>
      </p:sp>
      <p:sp>
        <p:nvSpPr>
          <p:cNvPr id="21" name="Text 19"/>
          <p:cNvSpPr/>
          <p:nvPr/>
        </p:nvSpPr>
        <p:spPr>
          <a:xfrm>
            <a:off x="1417320" y="4334256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Transport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2907792" y="4288536"/>
            <a:ext cx="475488" cy="347472"/>
          </a:xfrm>
          <a:prstGeom prst="chevron">
            <a:avLst/>
          </a:prstGeom>
          <a:solidFill>
            <a:srgbClr val="6A8D6E">
              <a:alpha val="92000"/>
            </a:srgbClr>
          </a:solidFill>
          <a:ln w="12700">
            <a:solidFill>
              <a:srgbClr val="6A8D6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58952" y="5065776"/>
            <a:ext cx="493776" cy="493776"/>
          </a:xfrm>
          <a:prstGeom prst="ellipse">
            <a:avLst/>
          </a:prstGeom>
          <a:solidFill>
            <a:srgbClr val="9DB43B"/>
          </a:solidFill>
          <a:ln w="12700">
            <a:solidFill>
              <a:srgbClr val="9DB43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8952" y="5179344"/>
            <a:ext cx="493776" cy="1382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2" b="1" dirty="0">
                <a:solidFill>
                  <a:srgbClr val="FFFFFF"/>
                </a:solidFill>
              </a:rPr>
              <a:t>LA</a:t>
            </a:r>
            <a:endParaRPr lang="en-US" sz="972" dirty="0"/>
          </a:p>
        </p:txBody>
      </p:sp>
      <p:sp>
        <p:nvSpPr>
          <p:cNvPr id="25" name="Text 23"/>
          <p:cNvSpPr/>
          <p:nvPr/>
        </p:nvSpPr>
        <p:spPr>
          <a:xfrm>
            <a:off x="1417320" y="5184648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Lavage auto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2907792" y="5138928"/>
            <a:ext cx="475488" cy="347472"/>
          </a:xfrm>
          <a:prstGeom prst="chevron">
            <a:avLst/>
          </a:prstGeom>
          <a:solidFill>
            <a:srgbClr val="6A8D6E">
              <a:alpha val="92000"/>
            </a:srgbClr>
          </a:solidFill>
          <a:ln w="12700">
            <a:solidFill>
              <a:srgbClr val="6A8D6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703320" y="1572768"/>
            <a:ext cx="448056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sp>
      <p:pic>
        <p:nvPicPr>
          <p:cNvPr id="28" name="Image 0" descr="/Users/ogahserge/Documents/best_epargne/work/source_unpacked/ppt/media/image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0" y="1810512"/>
            <a:ext cx="1737360" cy="1417320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4297680" y="33375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34E2B"/>
                </a:solidFill>
              </a:rPr>
              <a:t>ERP OLIVE DANAROY</a:t>
            </a:r>
            <a:endParaRPr lang="en-US" sz="2000" dirty="0"/>
          </a:p>
        </p:txBody>
      </p:sp>
      <p:sp>
        <p:nvSpPr>
          <p:cNvPr id="30" name="Shape 27"/>
          <p:cNvSpPr/>
          <p:nvPr/>
        </p:nvSpPr>
        <p:spPr>
          <a:xfrm>
            <a:off x="4096512" y="3886200"/>
            <a:ext cx="1691640" cy="310896"/>
          </a:xfrm>
          <a:prstGeom prst="roundRect">
            <a:avLst>
              <a:gd name="adj" fmla="val 23529"/>
            </a:avLst>
          </a:prstGeom>
          <a:solidFill>
            <a:srgbClr val="EFF4DA"/>
          </a:solidFill>
          <a:ln w="12700">
            <a:solidFill>
              <a:srgbClr val="EFF4DA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169664" y="3950208"/>
            <a:ext cx="1545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34E2B"/>
                </a:solidFill>
              </a:rPr>
              <a:t>CRM &amp; ventes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6016752" y="3886200"/>
            <a:ext cx="1691640" cy="310896"/>
          </a:xfrm>
          <a:prstGeom prst="roundRect">
            <a:avLst>
              <a:gd name="adj" fmla="val 23529"/>
            </a:avLst>
          </a:prstGeom>
          <a:solidFill>
            <a:srgbClr val="E9F1E9"/>
          </a:solidFill>
          <a:ln w="12700">
            <a:solidFill>
              <a:srgbClr val="E9F1E9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089904" y="3950208"/>
            <a:ext cx="1545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34E2B"/>
                </a:solidFill>
              </a:rPr>
              <a:t>Achats &amp; stock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4096512" y="4453128"/>
            <a:ext cx="1691640" cy="310896"/>
          </a:xfrm>
          <a:prstGeom prst="roundRect">
            <a:avLst>
              <a:gd name="adj" fmla="val 23529"/>
            </a:avLst>
          </a:prstGeom>
          <a:solidFill>
            <a:srgbClr val="EFF4DA"/>
          </a:solidFill>
          <a:ln w="12700">
            <a:solidFill>
              <a:srgbClr val="EFF4DA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169664" y="4517136"/>
            <a:ext cx="1545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34E2B"/>
                </a:solidFill>
              </a:rPr>
              <a:t>Finance &amp; caisses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6016752" y="4453128"/>
            <a:ext cx="1691640" cy="310896"/>
          </a:xfrm>
          <a:prstGeom prst="roundRect">
            <a:avLst>
              <a:gd name="adj" fmla="val 23529"/>
            </a:avLst>
          </a:prstGeom>
          <a:solidFill>
            <a:srgbClr val="E9F1E9"/>
          </a:solidFill>
          <a:ln w="12700">
            <a:solidFill>
              <a:srgbClr val="E9F1E9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089904" y="4517136"/>
            <a:ext cx="1545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34E2B"/>
                </a:solidFill>
              </a:rPr>
              <a:t>RH &amp; temps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4096512" y="5020056"/>
            <a:ext cx="1691640" cy="310896"/>
          </a:xfrm>
          <a:prstGeom prst="roundRect">
            <a:avLst>
              <a:gd name="adj" fmla="val 23529"/>
            </a:avLst>
          </a:prstGeom>
          <a:solidFill>
            <a:srgbClr val="EFF4DA"/>
          </a:solidFill>
          <a:ln w="12700">
            <a:solidFill>
              <a:srgbClr val="EFF4DA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169664" y="5084064"/>
            <a:ext cx="1545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34E2B"/>
                </a:solidFill>
              </a:rPr>
              <a:t>Documents &amp; validations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6016752" y="5020056"/>
            <a:ext cx="1691640" cy="310896"/>
          </a:xfrm>
          <a:prstGeom prst="roundRect">
            <a:avLst>
              <a:gd name="adj" fmla="val 23529"/>
            </a:avLst>
          </a:prstGeom>
          <a:solidFill>
            <a:srgbClr val="E9F1E9"/>
          </a:solidFill>
          <a:ln w="12700">
            <a:solidFill>
              <a:srgbClr val="E9F1E9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089904" y="5084064"/>
            <a:ext cx="1545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34E2B"/>
                </a:solidFill>
              </a:rPr>
              <a:t>Tableaux de bord</a:t>
            </a:r>
            <a:endParaRPr lang="en-US" sz="950" dirty="0"/>
          </a:p>
        </p:txBody>
      </p:sp>
      <p:sp>
        <p:nvSpPr>
          <p:cNvPr id="42" name="Shape 39"/>
          <p:cNvSpPr/>
          <p:nvPr/>
        </p:nvSpPr>
        <p:spPr>
          <a:xfrm>
            <a:off x="8522208" y="2057400"/>
            <a:ext cx="457200" cy="347472"/>
          </a:xfrm>
          <a:prstGeom prst="chevron">
            <a:avLst/>
          </a:prstGeom>
          <a:solidFill>
            <a:srgbClr val="6A8D6E">
              <a:alpha val="92000"/>
            </a:srgbClr>
          </a:solidFill>
          <a:ln w="12700">
            <a:solidFill>
              <a:srgbClr val="6A8D6E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9253728" y="1965960"/>
            <a:ext cx="530352" cy="530352"/>
          </a:xfrm>
          <a:prstGeom prst="ellipse">
            <a:avLst/>
          </a:prstGeom>
          <a:solidFill>
            <a:srgbClr val="397443"/>
          </a:solidFill>
          <a:ln w="12700">
            <a:solidFill>
              <a:srgbClr val="397443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253728" y="2087941"/>
            <a:ext cx="530352" cy="1484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4" b="1" dirty="0">
                <a:solidFill>
                  <a:srgbClr val="FFFFFF"/>
                </a:solidFill>
              </a:rPr>
              <a:t>DG</a:t>
            </a:r>
            <a:endParaRPr lang="en-US" sz="1044" dirty="0"/>
          </a:p>
        </p:txBody>
      </p:sp>
      <p:sp>
        <p:nvSpPr>
          <p:cNvPr id="45" name="Text 42"/>
          <p:cNvSpPr/>
          <p:nvPr/>
        </p:nvSpPr>
        <p:spPr>
          <a:xfrm>
            <a:off x="9948672" y="210312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Direction</a:t>
            </a:r>
            <a:endParaRPr lang="en-US" sz="1250" dirty="0"/>
          </a:p>
        </p:txBody>
      </p:sp>
      <p:sp>
        <p:nvSpPr>
          <p:cNvPr id="46" name="Shape 43"/>
          <p:cNvSpPr/>
          <p:nvPr/>
        </p:nvSpPr>
        <p:spPr>
          <a:xfrm>
            <a:off x="8522208" y="3017520"/>
            <a:ext cx="457200" cy="347472"/>
          </a:xfrm>
          <a:prstGeom prst="chevron">
            <a:avLst/>
          </a:prstGeom>
          <a:solidFill>
            <a:srgbClr val="6A8D6E">
              <a:alpha val="92000"/>
            </a:srgbClr>
          </a:solidFill>
          <a:ln w="12700">
            <a:solidFill>
              <a:srgbClr val="6A8D6E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9253728" y="2926080"/>
            <a:ext cx="530352" cy="530352"/>
          </a:xfrm>
          <a:prstGeom prst="ellipse">
            <a:avLst/>
          </a:prstGeom>
          <a:solidFill>
            <a:srgbClr val="397443"/>
          </a:solidFill>
          <a:ln w="12700">
            <a:solidFill>
              <a:srgbClr val="397443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9253728" y="3048061"/>
            <a:ext cx="530352" cy="1484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4" b="1" dirty="0">
                <a:solidFill>
                  <a:srgbClr val="FFFFFF"/>
                </a:solidFill>
              </a:rPr>
              <a:t>FI</a:t>
            </a:r>
            <a:endParaRPr lang="en-US" sz="1044" dirty="0"/>
          </a:p>
        </p:txBody>
      </p:sp>
      <p:sp>
        <p:nvSpPr>
          <p:cNvPr id="49" name="Text 46"/>
          <p:cNvSpPr/>
          <p:nvPr/>
        </p:nvSpPr>
        <p:spPr>
          <a:xfrm>
            <a:off x="9948672" y="306324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Finance</a:t>
            </a:r>
            <a:endParaRPr lang="en-US" sz="1250" dirty="0"/>
          </a:p>
        </p:txBody>
      </p:sp>
      <p:sp>
        <p:nvSpPr>
          <p:cNvPr id="50" name="Shape 47"/>
          <p:cNvSpPr/>
          <p:nvPr/>
        </p:nvSpPr>
        <p:spPr>
          <a:xfrm>
            <a:off x="8522208" y="3977640"/>
            <a:ext cx="457200" cy="347472"/>
          </a:xfrm>
          <a:prstGeom prst="chevron">
            <a:avLst/>
          </a:prstGeom>
          <a:solidFill>
            <a:srgbClr val="6A8D6E">
              <a:alpha val="92000"/>
            </a:srgbClr>
          </a:solidFill>
          <a:ln w="12700">
            <a:solidFill>
              <a:srgbClr val="6A8D6E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9253728" y="3886200"/>
            <a:ext cx="530352" cy="530352"/>
          </a:xfrm>
          <a:prstGeom prst="ellipse">
            <a:avLst/>
          </a:prstGeom>
          <a:solidFill>
            <a:srgbClr val="397443"/>
          </a:solidFill>
          <a:ln w="12700">
            <a:solidFill>
              <a:srgbClr val="397443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9253728" y="4008181"/>
            <a:ext cx="530352" cy="1484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4" b="1" dirty="0">
                <a:solidFill>
                  <a:srgbClr val="FFFFFF"/>
                </a:solidFill>
              </a:rPr>
              <a:t>OP</a:t>
            </a:r>
            <a:endParaRPr lang="en-US" sz="1044" dirty="0"/>
          </a:p>
        </p:txBody>
      </p:sp>
      <p:sp>
        <p:nvSpPr>
          <p:cNvPr id="53" name="Text 50"/>
          <p:cNvSpPr/>
          <p:nvPr/>
        </p:nvSpPr>
        <p:spPr>
          <a:xfrm>
            <a:off x="9948672" y="402336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Opérations</a:t>
            </a:r>
            <a:endParaRPr lang="en-US" sz="1250" dirty="0"/>
          </a:p>
        </p:txBody>
      </p:sp>
      <p:sp>
        <p:nvSpPr>
          <p:cNvPr id="54" name="Shape 51"/>
          <p:cNvSpPr/>
          <p:nvPr/>
        </p:nvSpPr>
        <p:spPr>
          <a:xfrm>
            <a:off x="8522208" y="4937760"/>
            <a:ext cx="457200" cy="347472"/>
          </a:xfrm>
          <a:prstGeom prst="chevron">
            <a:avLst/>
          </a:prstGeom>
          <a:solidFill>
            <a:srgbClr val="6A8D6E">
              <a:alpha val="92000"/>
            </a:srgbClr>
          </a:solidFill>
          <a:ln w="12700">
            <a:solidFill>
              <a:srgbClr val="6A8D6E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9253728" y="4846320"/>
            <a:ext cx="530352" cy="530352"/>
          </a:xfrm>
          <a:prstGeom prst="ellipse">
            <a:avLst/>
          </a:prstGeom>
          <a:solidFill>
            <a:srgbClr val="397443"/>
          </a:solidFill>
          <a:ln w="12700">
            <a:solidFill>
              <a:srgbClr val="397443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9253728" y="4968301"/>
            <a:ext cx="530352" cy="1484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4" b="1" dirty="0">
                <a:solidFill>
                  <a:srgbClr val="FFFFFF"/>
                </a:solidFill>
              </a:rPr>
              <a:t>CL</a:t>
            </a:r>
            <a:endParaRPr lang="en-US" sz="1044" dirty="0"/>
          </a:p>
        </p:txBody>
      </p:sp>
      <p:sp>
        <p:nvSpPr>
          <p:cNvPr id="57" name="Text 54"/>
          <p:cNvSpPr/>
          <p:nvPr/>
        </p:nvSpPr>
        <p:spPr>
          <a:xfrm>
            <a:off x="9948672" y="498348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Clients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80" kern="0" dirty="0">
                <a:solidFill>
                  <a:srgbClr val="397443"/>
                </a:solidFill>
              </a:rPr>
              <a:t>FONCTIONNEL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640080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51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Socle transversal de l’ERP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03504" y="109728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159"/>
                </a:solidFill>
              </a:rPr>
              <a:t>Les fonctions utilisées par toutes les branches sont livrées une seule fois et paramétrées par activité.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6510528"/>
            <a:ext cx="4846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7180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OFFRE ERP • OLIVE DANAROY • JUILLET 2026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155680" y="6473952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180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21792" y="1627632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0160">
            <a:solidFill>
              <a:srgbClr val="D8E3D9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1828800"/>
            <a:ext cx="457200" cy="457200"/>
          </a:xfrm>
          <a:prstGeom prst="ellipse">
            <a:avLst/>
          </a:prstGeom>
          <a:solidFill>
            <a:srgbClr val="234E2B"/>
          </a:solidFill>
          <a:ln w="12700">
            <a:solidFill>
              <a:srgbClr val="234E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933956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CV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408176" y="1837944"/>
            <a:ext cx="1618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251C"/>
                </a:solidFill>
              </a:rPr>
              <a:t>CRM &amp; ventes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41248" y="2249424"/>
            <a:ext cx="2167128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26159"/>
                </a:solidFill>
              </a:rPr>
              <a:t>Prospects, opportunités, devis, commandes, factures, relances.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3483864" y="1627632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0160">
            <a:solidFill>
              <a:srgbClr val="D8E3D9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85032" y="1828800"/>
            <a:ext cx="457200" cy="457200"/>
          </a:xfrm>
          <a:prstGeom prst="ellipse">
            <a:avLst/>
          </a:prstGeom>
          <a:solidFill>
            <a:srgbClr val="234E2B"/>
          </a:solidFill>
          <a:ln w="12700">
            <a:solidFill>
              <a:srgbClr val="234E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85032" y="1933956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AC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270248" y="1837944"/>
            <a:ext cx="1618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251C"/>
                </a:solidFill>
              </a:rPr>
              <a:t>Achats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3703320" y="2249424"/>
            <a:ext cx="2167128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26159"/>
                </a:solidFill>
              </a:rPr>
              <a:t>Demandes, validations, bons de commande, réceptions, fournisseurs.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6345936" y="1627632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0160">
            <a:solidFill>
              <a:srgbClr val="D8E3D9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47104" y="1828800"/>
            <a:ext cx="457200" cy="457200"/>
          </a:xfrm>
          <a:prstGeom prst="ellipse">
            <a:avLst/>
          </a:prstGeom>
          <a:solidFill>
            <a:srgbClr val="234E2B"/>
          </a:solidFill>
          <a:ln w="12700">
            <a:solidFill>
              <a:srgbClr val="234E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47104" y="1933956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132320" y="1837944"/>
            <a:ext cx="1618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251C"/>
                </a:solidFill>
              </a:rPr>
              <a:t>Stocks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565392" y="2249424"/>
            <a:ext cx="2167128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26159"/>
                </a:solidFill>
              </a:rPr>
              <a:t>Multi-dépôts, lots/séries, mouvements, inventaires, seuils d’alerte.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9208008" y="1627632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0160">
            <a:solidFill>
              <a:srgbClr val="D8E3D9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409176" y="1828800"/>
            <a:ext cx="457200" cy="457200"/>
          </a:xfrm>
          <a:prstGeom prst="ellipse">
            <a:avLst/>
          </a:prstGeom>
          <a:solidFill>
            <a:srgbClr val="234E2B"/>
          </a:solidFill>
          <a:ln w="12700">
            <a:solidFill>
              <a:srgbClr val="234E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409176" y="1933956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FI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994392" y="1837944"/>
            <a:ext cx="1618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251C"/>
                </a:solidFill>
              </a:rPr>
              <a:t>Finance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9427464" y="2249424"/>
            <a:ext cx="2167128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26159"/>
                </a:solidFill>
              </a:rPr>
              <a:t>Caisses, banques, règlements, dépenses, créances, centres de coûts.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>
            <a:off x="621792" y="3776472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0160">
            <a:solidFill>
              <a:srgbClr val="D8E3D9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22960" y="3977640"/>
            <a:ext cx="457200" cy="457200"/>
          </a:xfrm>
          <a:prstGeom prst="ellipse">
            <a:avLst/>
          </a:prstGeom>
          <a:solidFill>
            <a:srgbClr val="397443"/>
          </a:solidFill>
          <a:ln w="12700">
            <a:solidFill>
              <a:srgbClr val="39744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" y="4082796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RH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408176" y="3986784"/>
            <a:ext cx="1618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251C"/>
                </a:solidFill>
              </a:rPr>
              <a:t>RH &amp; temps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841248" y="4398264"/>
            <a:ext cx="2167128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26159"/>
                </a:solidFill>
              </a:rPr>
              <a:t>Personnel, présence, congés, feuilles de temps, éléments de paie.</a:t>
            </a:r>
            <a:endParaRPr lang="en-US" sz="1080" dirty="0"/>
          </a:p>
        </p:txBody>
      </p:sp>
      <p:sp>
        <p:nvSpPr>
          <p:cNvPr id="32" name="Shape 30"/>
          <p:cNvSpPr/>
          <p:nvPr/>
        </p:nvSpPr>
        <p:spPr>
          <a:xfrm>
            <a:off x="3483864" y="3776472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0160">
            <a:solidFill>
              <a:srgbClr val="D8E3D9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685032" y="3977640"/>
            <a:ext cx="457200" cy="457200"/>
          </a:xfrm>
          <a:prstGeom prst="ellipse">
            <a:avLst/>
          </a:prstGeom>
          <a:solidFill>
            <a:srgbClr val="397443"/>
          </a:solidFill>
          <a:ln w="12700">
            <a:solidFill>
              <a:srgbClr val="39744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85032" y="4082796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DO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270248" y="3986784"/>
            <a:ext cx="1618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251C"/>
                </a:solidFill>
              </a:rPr>
              <a:t>Documents</a:t>
            </a:r>
            <a:endParaRPr lang="en-US" sz="1450" dirty="0"/>
          </a:p>
        </p:txBody>
      </p:sp>
      <p:sp>
        <p:nvSpPr>
          <p:cNvPr id="36" name="Text 34"/>
          <p:cNvSpPr/>
          <p:nvPr/>
        </p:nvSpPr>
        <p:spPr>
          <a:xfrm>
            <a:off x="3703320" y="4398264"/>
            <a:ext cx="2167128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26159"/>
                </a:solidFill>
              </a:rPr>
              <a:t>Contrats, pièces jointes, numérotation, visa et piste d’audit.</a:t>
            </a:r>
            <a:endParaRPr lang="en-US" sz="1080" dirty="0"/>
          </a:p>
        </p:txBody>
      </p:sp>
      <p:sp>
        <p:nvSpPr>
          <p:cNvPr id="37" name="Shape 35"/>
          <p:cNvSpPr/>
          <p:nvPr/>
        </p:nvSpPr>
        <p:spPr>
          <a:xfrm>
            <a:off x="6345936" y="3776472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0160">
            <a:solidFill>
              <a:srgbClr val="D8E3D9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547104" y="3977640"/>
            <a:ext cx="457200" cy="457200"/>
          </a:xfrm>
          <a:prstGeom prst="ellipse">
            <a:avLst/>
          </a:prstGeom>
          <a:solidFill>
            <a:srgbClr val="397443"/>
          </a:solidFill>
          <a:ln w="12700">
            <a:solidFill>
              <a:srgbClr val="39744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47104" y="4082796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MO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132320" y="3986784"/>
            <a:ext cx="1618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251C"/>
                </a:solidFill>
              </a:rPr>
              <a:t>Portail &amp; mobile</a:t>
            </a:r>
            <a:endParaRPr lang="en-US" sz="1450" dirty="0"/>
          </a:p>
        </p:txBody>
      </p:sp>
      <p:sp>
        <p:nvSpPr>
          <p:cNvPr id="41" name="Text 39"/>
          <p:cNvSpPr/>
          <p:nvPr/>
        </p:nvSpPr>
        <p:spPr>
          <a:xfrm>
            <a:off x="6565392" y="4398264"/>
            <a:ext cx="2167128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26159"/>
                </a:solidFill>
              </a:rPr>
              <a:t>Accès web, PWA mobile, profils, notifications et validations.</a:t>
            </a:r>
            <a:endParaRPr lang="en-US" sz="1080" dirty="0"/>
          </a:p>
        </p:txBody>
      </p:sp>
      <p:sp>
        <p:nvSpPr>
          <p:cNvPr id="42" name="Shape 40"/>
          <p:cNvSpPr/>
          <p:nvPr/>
        </p:nvSpPr>
        <p:spPr>
          <a:xfrm>
            <a:off x="9208008" y="3776472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0160">
            <a:solidFill>
              <a:srgbClr val="D8E3D9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9409176" y="3977640"/>
            <a:ext cx="457200" cy="457200"/>
          </a:xfrm>
          <a:prstGeom prst="ellipse">
            <a:avLst/>
          </a:prstGeom>
          <a:solidFill>
            <a:srgbClr val="397443"/>
          </a:solidFill>
          <a:ln w="12700">
            <a:solidFill>
              <a:srgbClr val="39744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409176" y="4082796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BI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9994392" y="3986784"/>
            <a:ext cx="1618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251C"/>
                </a:solidFill>
              </a:rPr>
              <a:t>Pilotage</a:t>
            </a:r>
            <a:endParaRPr lang="en-US" sz="1450" dirty="0"/>
          </a:p>
        </p:txBody>
      </p:sp>
      <p:sp>
        <p:nvSpPr>
          <p:cNvPr id="46" name="Text 44"/>
          <p:cNvSpPr/>
          <p:nvPr/>
        </p:nvSpPr>
        <p:spPr>
          <a:xfrm>
            <a:off x="9427464" y="4398264"/>
            <a:ext cx="2167128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26159"/>
                </a:solidFill>
              </a:rPr>
              <a:t>Budgets, marges, objectifs, tableaux de bord et exports.</a:t>
            </a:r>
            <a:endParaRPr lang="en-US" sz="1080" dirty="0"/>
          </a:p>
        </p:txBody>
      </p:sp>
      <p:sp>
        <p:nvSpPr>
          <p:cNvPr id="47" name="Text 45"/>
          <p:cNvSpPr/>
          <p:nvPr/>
        </p:nvSpPr>
        <p:spPr>
          <a:xfrm>
            <a:off x="713232" y="599846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34E2B"/>
                </a:solidFill>
              </a:rPr>
              <a:t>Principe de contrôle : rôles par activité + seuils d’autorisation + validation électronique + journal d’audit.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80" kern="0" dirty="0">
                <a:solidFill>
                  <a:srgbClr val="397443"/>
                </a:solidFill>
              </a:rPr>
              <a:t>MÉTIER 01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640080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51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BTP : piloter chaque chantier jusqu’à la marge finale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03504" y="109728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159"/>
                </a:solidFill>
              </a:rPr>
              <a:t>Un suivi opérationnel et financier de bout en bout pour les constructions, rénovations, démolitions, voiries et canalisations.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6510528"/>
            <a:ext cx="4846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7180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OFFRE ERP • OLIVE DANAROY • JUILLET 2026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155680" y="6473952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180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06</a:t>
            </a:r>
            <a:endParaRPr lang="en-US" sz="900" dirty="0"/>
          </a:p>
        </p:txBody>
      </p:sp>
      <p:pic>
        <p:nvPicPr>
          <p:cNvPr id="7" name="Image 0" descr="/Users/ogahserge/Documents/best_epargne/work/source_unpacked/ppt/media/image11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818120" y="1572768"/>
            <a:ext cx="3794760" cy="23317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818120" y="3410712"/>
            <a:ext cx="3794760" cy="493776"/>
          </a:xfrm>
          <a:prstGeom prst="roundRect">
            <a:avLst>
              <a:gd name="adj" fmla="val 7407"/>
            </a:avLst>
          </a:prstGeom>
          <a:solidFill>
            <a:srgbClr val="234E2B">
              <a:alpha val="96000"/>
            </a:srgbClr>
          </a:solidFill>
          <a:ln w="12700">
            <a:solidFill>
              <a:srgbClr val="234E2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01000" y="3575304"/>
            <a:ext cx="3429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</a:rPr>
              <a:t>Budget prévu  →  Engagé  →  Réalisé  →  Marge</a:t>
            </a:r>
            <a:endParaRPr lang="en-US" sz="1080" dirty="0"/>
          </a:p>
        </p:txBody>
      </p:sp>
      <p:sp>
        <p:nvSpPr>
          <p:cNvPr id="10" name="Shape 7"/>
          <p:cNvSpPr/>
          <p:nvPr/>
        </p:nvSpPr>
        <p:spPr>
          <a:xfrm>
            <a:off x="658368" y="1856232"/>
            <a:ext cx="502920" cy="502920"/>
          </a:xfrm>
          <a:prstGeom prst="ellipse">
            <a:avLst/>
          </a:prstGeom>
          <a:solidFill>
            <a:srgbClr val="234E2B"/>
          </a:solidFill>
          <a:ln w="12700">
            <a:solidFill>
              <a:srgbClr val="234E2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8368" y="1971904"/>
            <a:ext cx="502920" cy="140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90" b="1" dirty="0">
                <a:solidFill>
                  <a:srgbClr val="FFFFFF"/>
                </a:solidFill>
              </a:rPr>
              <a:t>1</a:t>
            </a:r>
            <a:endParaRPr lang="en-US" sz="990" dirty="0"/>
          </a:p>
        </p:txBody>
      </p:sp>
      <p:sp>
        <p:nvSpPr>
          <p:cNvPr id="12" name="Shape 9"/>
          <p:cNvSpPr/>
          <p:nvPr/>
        </p:nvSpPr>
        <p:spPr>
          <a:xfrm>
            <a:off x="1316736" y="1929384"/>
            <a:ext cx="402336" cy="347472"/>
          </a:xfrm>
          <a:prstGeom prst="chevron">
            <a:avLst/>
          </a:prstGeom>
          <a:solidFill>
            <a:srgbClr val="9DB43B">
              <a:alpha val="92000"/>
            </a:srgbClr>
          </a:solidFill>
          <a:ln w="12700">
            <a:solidFill>
              <a:srgbClr val="9DB43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03504" y="2514600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251C"/>
                </a:solidFill>
              </a:rPr>
              <a:t>Appel d’offres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539496" y="2871216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526159"/>
                </a:solidFill>
              </a:rPr>
              <a:t>Dossier, estimation, devis</a:t>
            </a:r>
            <a:endParaRPr lang="en-US" sz="930" dirty="0"/>
          </a:p>
        </p:txBody>
      </p:sp>
      <p:sp>
        <p:nvSpPr>
          <p:cNvPr id="15" name="Shape 12"/>
          <p:cNvSpPr/>
          <p:nvPr/>
        </p:nvSpPr>
        <p:spPr>
          <a:xfrm>
            <a:off x="2066544" y="1856232"/>
            <a:ext cx="502920" cy="502920"/>
          </a:xfrm>
          <a:prstGeom prst="ellipse">
            <a:avLst/>
          </a:prstGeom>
          <a:solidFill>
            <a:srgbClr val="234E2B"/>
          </a:solidFill>
          <a:ln w="12700">
            <a:solidFill>
              <a:srgbClr val="234E2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066544" y="1971904"/>
            <a:ext cx="502920" cy="140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90" b="1" dirty="0">
                <a:solidFill>
                  <a:srgbClr val="FFFFFF"/>
                </a:solidFill>
              </a:rPr>
              <a:t>2</a:t>
            </a:r>
            <a:endParaRPr lang="en-US" sz="990" dirty="0"/>
          </a:p>
        </p:txBody>
      </p:sp>
      <p:sp>
        <p:nvSpPr>
          <p:cNvPr id="17" name="Shape 14"/>
          <p:cNvSpPr/>
          <p:nvPr/>
        </p:nvSpPr>
        <p:spPr>
          <a:xfrm>
            <a:off x="2724912" y="1929384"/>
            <a:ext cx="402336" cy="347472"/>
          </a:xfrm>
          <a:prstGeom prst="chevron">
            <a:avLst/>
          </a:prstGeom>
          <a:solidFill>
            <a:srgbClr val="9DB43B">
              <a:alpha val="92000"/>
            </a:srgbClr>
          </a:solidFill>
          <a:ln w="12700">
            <a:solidFill>
              <a:srgbClr val="9DB43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011680" y="2514600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251C"/>
                </a:solidFill>
              </a:rPr>
              <a:t>Planification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1947672" y="2871216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526159"/>
                </a:solidFill>
              </a:rPr>
              <a:t>WBS, tâches, équipes, matériels</a:t>
            </a:r>
            <a:endParaRPr lang="en-US" sz="930" dirty="0"/>
          </a:p>
        </p:txBody>
      </p:sp>
      <p:sp>
        <p:nvSpPr>
          <p:cNvPr id="20" name="Shape 17"/>
          <p:cNvSpPr/>
          <p:nvPr/>
        </p:nvSpPr>
        <p:spPr>
          <a:xfrm>
            <a:off x="3474720" y="1856232"/>
            <a:ext cx="502920" cy="502920"/>
          </a:xfrm>
          <a:prstGeom prst="ellipse">
            <a:avLst/>
          </a:prstGeom>
          <a:solidFill>
            <a:srgbClr val="234E2B"/>
          </a:solidFill>
          <a:ln w="12700">
            <a:solidFill>
              <a:srgbClr val="234E2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474720" y="1971904"/>
            <a:ext cx="502920" cy="140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90" b="1" dirty="0">
                <a:solidFill>
                  <a:srgbClr val="FFFFFF"/>
                </a:solidFill>
              </a:rPr>
              <a:t>3</a:t>
            </a:r>
            <a:endParaRPr lang="en-US" sz="990" dirty="0"/>
          </a:p>
        </p:txBody>
      </p:sp>
      <p:sp>
        <p:nvSpPr>
          <p:cNvPr id="22" name="Shape 19"/>
          <p:cNvSpPr/>
          <p:nvPr/>
        </p:nvSpPr>
        <p:spPr>
          <a:xfrm>
            <a:off x="4133088" y="1929384"/>
            <a:ext cx="402336" cy="347472"/>
          </a:xfrm>
          <a:prstGeom prst="chevron">
            <a:avLst/>
          </a:prstGeom>
          <a:solidFill>
            <a:srgbClr val="9DB43B">
              <a:alpha val="92000"/>
            </a:srgbClr>
          </a:solidFill>
          <a:ln w="12700">
            <a:solidFill>
              <a:srgbClr val="9DB43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419856" y="2514600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251C"/>
                </a:solidFill>
              </a:rPr>
              <a:t>Exécution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3355848" y="2871216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526159"/>
                </a:solidFill>
              </a:rPr>
              <a:t>Pointage, achats, consommations</a:t>
            </a:r>
            <a:endParaRPr lang="en-US" sz="930" dirty="0"/>
          </a:p>
        </p:txBody>
      </p:sp>
      <p:sp>
        <p:nvSpPr>
          <p:cNvPr id="25" name="Shape 22"/>
          <p:cNvSpPr/>
          <p:nvPr/>
        </p:nvSpPr>
        <p:spPr>
          <a:xfrm>
            <a:off x="4882896" y="1856232"/>
            <a:ext cx="502920" cy="502920"/>
          </a:xfrm>
          <a:prstGeom prst="ellipse">
            <a:avLst/>
          </a:prstGeom>
          <a:solidFill>
            <a:srgbClr val="397443"/>
          </a:solidFill>
          <a:ln w="12700">
            <a:solidFill>
              <a:srgbClr val="39744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882896" y="1971904"/>
            <a:ext cx="502920" cy="140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90" b="1" dirty="0">
                <a:solidFill>
                  <a:srgbClr val="FFFFFF"/>
                </a:solidFill>
              </a:rPr>
              <a:t>4</a:t>
            </a:r>
            <a:endParaRPr lang="en-US" sz="990" dirty="0"/>
          </a:p>
        </p:txBody>
      </p:sp>
      <p:sp>
        <p:nvSpPr>
          <p:cNvPr id="27" name="Shape 24"/>
          <p:cNvSpPr/>
          <p:nvPr/>
        </p:nvSpPr>
        <p:spPr>
          <a:xfrm>
            <a:off x="5541264" y="1929384"/>
            <a:ext cx="402336" cy="347472"/>
          </a:xfrm>
          <a:prstGeom prst="chevron">
            <a:avLst/>
          </a:prstGeom>
          <a:solidFill>
            <a:srgbClr val="9DB43B">
              <a:alpha val="92000"/>
            </a:srgbClr>
          </a:solidFill>
          <a:ln w="12700">
            <a:solidFill>
              <a:srgbClr val="9DB43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828032" y="2514600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251C"/>
                </a:solidFill>
              </a:rPr>
              <a:t>Contrôle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4764024" y="2871216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526159"/>
                </a:solidFill>
              </a:rPr>
              <a:t>Situations, avancement, écarts</a:t>
            </a:r>
            <a:endParaRPr lang="en-US" sz="930" dirty="0"/>
          </a:p>
        </p:txBody>
      </p:sp>
      <p:sp>
        <p:nvSpPr>
          <p:cNvPr id="30" name="Shape 27"/>
          <p:cNvSpPr/>
          <p:nvPr/>
        </p:nvSpPr>
        <p:spPr>
          <a:xfrm>
            <a:off x="6291072" y="1856232"/>
            <a:ext cx="502920" cy="502920"/>
          </a:xfrm>
          <a:prstGeom prst="ellipse">
            <a:avLst/>
          </a:prstGeom>
          <a:solidFill>
            <a:srgbClr val="397443"/>
          </a:solidFill>
          <a:ln w="12700">
            <a:solidFill>
              <a:srgbClr val="39744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291072" y="1971904"/>
            <a:ext cx="502920" cy="140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90" b="1" dirty="0">
                <a:solidFill>
                  <a:srgbClr val="FFFFFF"/>
                </a:solidFill>
              </a:rPr>
              <a:t>5</a:t>
            </a:r>
            <a:endParaRPr lang="en-US" sz="990" dirty="0"/>
          </a:p>
        </p:txBody>
      </p:sp>
      <p:sp>
        <p:nvSpPr>
          <p:cNvPr id="32" name="Text 29"/>
          <p:cNvSpPr/>
          <p:nvPr/>
        </p:nvSpPr>
        <p:spPr>
          <a:xfrm>
            <a:off x="6236208" y="2514600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251C"/>
                </a:solidFill>
              </a:rPr>
              <a:t>Clôture</a:t>
            </a:r>
            <a:endParaRPr lang="en-US" sz="1150" dirty="0"/>
          </a:p>
        </p:txBody>
      </p:sp>
      <p:sp>
        <p:nvSpPr>
          <p:cNvPr id="33" name="Text 30"/>
          <p:cNvSpPr/>
          <p:nvPr/>
        </p:nvSpPr>
        <p:spPr>
          <a:xfrm>
            <a:off x="6172200" y="2871216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526159"/>
                </a:solidFill>
              </a:rPr>
              <a:t>Réception, réserves, marge finale</a:t>
            </a:r>
            <a:endParaRPr lang="en-US" sz="930" dirty="0"/>
          </a:p>
        </p:txBody>
      </p:sp>
      <p:sp>
        <p:nvSpPr>
          <p:cNvPr id="34" name="Shape 31"/>
          <p:cNvSpPr/>
          <p:nvPr/>
        </p:nvSpPr>
        <p:spPr>
          <a:xfrm>
            <a:off x="658368" y="4023360"/>
            <a:ext cx="3456432" cy="1664208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10160">
            <a:solidFill>
              <a:srgbClr val="D8E3D9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859536" y="4224528"/>
            <a:ext cx="457200" cy="457200"/>
          </a:xfrm>
          <a:prstGeom prst="ellipse">
            <a:avLst/>
          </a:prstGeom>
          <a:solidFill>
            <a:srgbClr val="234E2B"/>
          </a:solidFill>
          <a:ln w="12700">
            <a:solidFill>
              <a:srgbClr val="234E2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59536" y="4329684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FC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1444752" y="423367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251C"/>
                </a:solidFill>
              </a:rPr>
              <a:t>Contrôle des coûts</a:t>
            </a:r>
            <a:endParaRPr lang="en-US" sz="1450" dirty="0"/>
          </a:p>
        </p:txBody>
      </p:sp>
      <p:sp>
        <p:nvSpPr>
          <p:cNvPr id="38" name="Text 35"/>
          <p:cNvSpPr/>
          <p:nvPr/>
        </p:nvSpPr>
        <p:spPr>
          <a:xfrm>
            <a:off x="877824" y="4645152"/>
            <a:ext cx="30175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526159"/>
                </a:solidFill>
              </a:rPr>
              <a:t>Budgets par lot, demandes d’achat, contrats de sous-traitance, attachements, consommations et écarts.</a:t>
            </a:r>
            <a:endParaRPr lang="en-US" sz="1120" dirty="0"/>
          </a:p>
        </p:txBody>
      </p:sp>
      <p:sp>
        <p:nvSpPr>
          <p:cNvPr id="39" name="Shape 36"/>
          <p:cNvSpPr/>
          <p:nvPr/>
        </p:nvSpPr>
        <p:spPr>
          <a:xfrm>
            <a:off x="4315968" y="4023360"/>
            <a:ext cx="3456432" cy="1664208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10160">
            <a:solidFill>
              <a:srgbClr val="D8E3D9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4517136" y="4224528"/>
            <a:ext cx="457200" cy="457200"/>
          </a:xfrm>
          <a:prstGeom prst="ellipse">
            <a:avLst/>
          </a:prstGeom>
          <a:solidFill>
            <a:srgbClr val="397443"/>
          </a:solidFill>
          <a:ln w="12700">
            <a:solidFill>
              <a:srgbClr val="397443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4517136" y="4329684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OP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5102352" y="423367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251C"/>
                </a:solidFill>
              </a:rPr>
              <a:t>Pilotage du chantier</a:t>
            </a:r>
            <a:endParaRPr lang="en-US" sz="1450" dirty="0"/>
          </a:p>
        </p:txBody>
      </p:sp>
      <p:sp>
        <p:nvSpPr>
          <p:cNvPr id="43" name="Text 40"/>
          <p:cNvSpPr/>
          <p:nvPr/>
        </p:nvSpPr>
        <p:spPr>
          <a:xfrm>
            <a:off x="4535424" y="4645152"/>
            <a:ext cx="30175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526159"/>
                </a:solidFill>
              </a:rPr>
              <a:t>Planning, équipes, feuilles de temps, engins, photos, incidents, qualité, sécurité et réserves.</a:t>
            </a:r>
            <a:endParaRPr lang="en-US" sz="1120" dirty="0"/>
          </a:p>
        </p:txBody>
      </p:sp>
      <p:sp>
        <p:nvSpPr>
          <p:cNvPr id="44" name="Shape 41"/>
          <p:cNvSpPr/>
          <p:nvPr/>
        </p:nvSpPr>
        <p:spPr>
          <a:xfrm>
            <a:off x="7973568" y="4023360"/>
            <a:ext cx="3456432" cy="1664208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10160">
            <a:solidFill>
              <a:srgbClr val="D8E3D9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sp>
      <p:sp>
        <p:nvSpPr>
          <p:cNvPr id="45" name="Shape 42"/>
          <p:cNvSpPr/>
          <p:nvPr/>
        </p:nvSpPr>
        <p:spPr>
          <a:xfrm>
            <a:off x="8174736" y="4224528"/>
            <a:ext cx="457200" cy="457200"/>
          </a:xfrm>
          <a:prstGeom prst="ellipse">
            <a:avLst/>
          </a:prstGeom>
          <a:solidFill>
            <a:srgbClr val="9DB43B"/>
          </a:solidFill>
          <a:ln w="12700">
            <a:solidFill>
              <a:srgbClr val="9DB43B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8174736" y="4329684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MG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8759952" y="423367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251C"/>
                </a:solidFill>
              </a:rPr>
              <a:t>Facturation &amp; marge</a:t>
            </a:r>
            <a:endParaRPr lang="en-US" sz="1450" dirty="0"/>
          </a:p>
        </p:txBody>
      </p:sp>
      <p:sp>
        <p:nvSpPr>
          <p:cNvPr id="48" name="Text 45"/>
          <p:cNvSpPr/>
          <p:nvPr/>
        </p:nvSpPr>
        <p:spPr>
          <a:xfrm>
            <a:off x="8193024" y="4645152"/>
            <a:ext cx="30175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526159"/>
                </a:solidFill>
              </a:rPr>
              <a:t>Situations de travaux, retenues, acomptes, factures, encaissements et rentabilité consolidée.</a:t>
            </a:r>
            <a:endParaRPr lang="en-US" sz="11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80" kern="0" dirty="0">
                <a:solidFill>
                  <a:srgbClr val="397443"/>
                </a:solidFill>
              </a:rPr>
              <a:t>MÉTIERS 02–04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640080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51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Commerce, informatique, communication &amp; bureautique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03504" y="109728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159"/>
                </a:solidFill>
              </a:rPr>
              <a:t>Un cycle devis–commande–livraison–facture complété par la gestion des équipements et du service après-vente.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6510528"/>
            <a:ext cx="4846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7180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OFFRE ERP • OLIVE DANAROY • JUILLET 2026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155680" y="6473952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180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700784"/>
            <a:ext cx="1307592" cy="694944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12700">
            <a:solidFill>
              <a:srgbClr val="D8E3D9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1947672"/>
            <a:ext cx="1124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51C"/>
                </a:solidFill>
              </a:rPr>
              <a:t>Prospect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965960" y="1874520"/>
            <a:ext cx="237744" cy="347472"/>
          </a:xfrm>
          <a:prstGeom prst="chevron">
            <a:avLst/>
          </a:prstGeom>
          <a:solidFill>
            <a:srgbClr val="9DB43B">
              <a:alpha val="92000"/>
            </a:srgbClr>
          </a:solidFill>
          <a:ln w="12700">
            <a:solidFill>
              <a:srgbClr val="9DB43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67712" y="1700784"/>
            <a:ext cx="1307592" cy="694944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12700">
            <a:solidFill>
              <a:srgbClr val="D8E3D9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359152" y="1947672"/>
            <a:ext cx="1124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51C"/>
                </a:solidFill>
              </a:rPr>
              <a:t>Devis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593592" y="1874520"/>
            <a:ext cx="237744" cy="347472"/>
          </a:xfrm>
          <a:prstGeom prst="chevron">
            <a:avLst/>
          </a:prstGeom>
          <a:solidFill>
            <a:srgbClr val="9DB43B">
              <a:alpha val="92000"/>
            </a:srgbClr>
          </a:solidFill>
          <a:ln w="12700">
            <a:solidFill>
              <a:srgbClr val="9DB43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895344" y="1700784"/>
            <a:ext cx="1307592" cy="694944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12700">
            <a:solidFill>
              <a:srgbClr val="D8E3D9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986784" y="1947672"/>
            <a:ext cx="1124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51C"/>
                </a:solidFill>
              </a:rPr>
              <a:t>Validation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221224" y="1874520"/>
            <a:ext cx="237744" cy="347472"/>
          </a:xfrm>
          <a:prstGeom prst="chevron">
            <a:avLst/>
          </a:prstGeom>
          <a:solidFill>
            <a:srgbClr val="9DB43B">
              <a:alpha val="92000"/>
            </a:srgbClr>
          </a:solidFill>
          <a:ln w="12700">
            <a:solidFill>
              <a:srgbClr val="9DB43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522976" y="1700784"/>
            <a:ext cx="1307592" cy="694944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12700">
            <a:solidFill>
              <a:srgbClr val="D8E3D9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614416" y="1947672"/>
            <a:ext cx="1124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51C"/>
                </a:solidFill>
              </a:rPr>
              <a:t>Approvisionnement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848856" y="1874520"/>
            <a:ext cx="237744" cy="347472"/>
          </a:xfrm>
          <a:prstGeom prst="chevron">
            <a:avLst/>
          </a:prstGeom>
          <a:solidFill>
            <a:srgbClr val="9DB43B">
              <a:alpha val="92000"/>
            </a:srgbClr>
          </a:solidFill>
          <a:ln w="12700">
            <a:solidFill>
              <a:srgbClr val="9DB43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50608" y="1700784"/>
            <a:ext cx="1307592" cy="694944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12700">
            <a:solidFill>
              <a:srgbClr val="D8E3D9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242048" y="1947672"/>
            <a:ext cx="1124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51C"/>
                </a:solidFill>
              </a:rPr>
              <a:t>Livraison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476488" y="1874520"/>
            <a:ext cx="237744" cy="347472"/>
          </a:xfrm>
          <a:prstGeom prst="chevron">
            <a:avLst/>
          </a:prstGeom>
          <a:solidFill>
            <a:srgbClr val="9DB43B">
              <a:alpha val="92000"/>
            </a:srgbClr>
          </a:solidFill>
          <a:ln w="12700">
            <a:solidFill>
              <a:srgbClr val="9DB43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778240" y="1700784"/>
            <a:ext cx="1307592" cy="694944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12700">
            <a:solidFill>
              <a:srgbClr val="D8E3D9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869680" y="1947672"/>
            <a:ext cx="1124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51C"/>
                </a:solidFill>
              </a:rPr>
              <a:t>Facture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0104120" y="1874520"/>
            <a:ext cx="237744" cy="347472"/>
          </a:xfrm>
          <a:prstGeom prst="chevron">
            <a:avLst/>
          </a:prstGeom>
          <a:solidFill>
            <a:srgbClr val="9DB43B">
              <a:alpha val="92000"/>
            </a:srgbClr>
          </a:solidFill>
          <a:ln w="12700">
            <a:solidFill>
              <a:srgbClr val="9DB43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405872" y="1700784"/>
            <a:ext cx="1307592" cy="694944"/>
          </a:xfrm>
          <a:prstGeom prst="roundRect">
            <a:avLst>
              <a:gd name="adj" fmla="val 6579"/>
            </a:avLst>
          </a:prstGeom>
          <a:solidFill>
            <a:srgbClr val="234E2B"/>
          </a:solidFill>
          <a:ln w="12700">
            <a:solidFill>
              <a:srgbClr val="234E2B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0497312" y="1947672"/>
            <a:ext cx="1124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Encaissement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58368" y="2852928"/>
            <a:ext cx="2606040" cy="2596896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0160">
            <a:solidFill>
              <a:srgbClr val="D8E3D9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59536" y="3054096"/>
            <a:ext cx="457200" cy="457200"/>
          </a:xfrm>
          <a:prstGeom prst="ellipse">
            <a:avLst/>
          </a:prstGeom>
          <a:solidFill>
            <a:srgbClr val="234E2B"/>
          </a:solidFill>
          <a:ln w="12700">
            <a:solidFill>
              <a:srgbClr val="234E2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9536" y="3159252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VM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444752" y="3063240"/>
            <a:ext cx="1618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251C"/>
                </a:solidFill>
              </a:rPr>
              <a:t>Vente de matériels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86968" y="3685032"/>
            <a:ext cx="21305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070" dirty="0">
                <a:solidFill>
                  <a:srgbClr val="526159"/>
                </a:solidFill>
              </a:rPr>
              <a:t>Catalogues et tarifs</a:t>
            </a:r>
            <a:endParaRPr lang="en-US" sz="1070" dirty="0"/>
          </a:p>
          <a:p>
            <a:pPr marL="177800" indent="-177800">
              <a:buSzPct val="100000"/>
              <a:buChar char="•"/>
            </a:pPr>
            <a:r>
              <a:rPr lang="en-US" sz="1070" dirty="0">
                <a:solidFill>
                  <a:srgbClr val="526159"/>
                </a:solidFill>
              </a:rPr>
              <a:t>Numéros de série et garanties</a:t>
            </a:r>
            <a:endParaRPr lang="en-US" sz="1070" dirty="0"/>
          </a:p>
          <a:p>
            <a:pPr marL="177800" indent="-177800">
              <a:buSzPct val="100000"/>
              <a:buChar char="•"/>
            </a:pPr>
            <a:r>
              <a:rPr lang="en-US" sz="1070" dirty="0">
                <a:solidFill>
                  <a:srgbClr val="526159"/>
                </a:solidFill>
              </a:rPr>
              <a:t>Livraisons partielles</a:t>
            </a:r>
            <a:endParaRPr lang="en-US" sz="1070" dirty="0"/>
          </a:p>
          <a:p>
            <a:pPr marL="177800" indent="-177800">
              <a:buSzPct val="100000"/>
              <a:buChar char="•"/>
            </a:pPr>
            <a:r>
              <a:rPr lang="en-US" sz="1070" dirty="0">
                <a:solidFill>
                  <a:srgbClr val="526159"/>
                </a:solidFill>
              </a:rPr>
              <a:t>Marge par article et client</a:t>
            </a:r>
            <a:endParaRPr lang="en-US" sz="1070" dirty="0"/>
          </a:p>
        </p:txBody>
      </p:sp>
      <p:sp>
        <p:nvSpPr>
          <p:cNvPr id="32" name="Shape 30"/>
          <p:cNvSpPr/>
          <p:nvPr/>
        </p:nvSpPr>
        <p:spPr>
          <a:xfrm>
            <a:off x="3529584" y="2852928"/>
            <a:ext cx="2606040" cy="2596896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0160">
            <a:solidFill>
              <a:srgbClr val="D8E3D9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730752" y="3054096"/>
            <a:ext cx="457200" cy="457200"/>
          </a:xfrm>
          <a:prstGeom prst="ellipse">
            <a:avLst/>
          </a:prstGeom>
          <a:solidFill>
            <a:srgbClr val="397443"/>
          </a:solidFill>
          <a:ln w="12700">
            <a:solidFill>
              <a:srgbClr val="39744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730752" y="3159252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SI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315968" y="3063240"/>
            <a:ext cx="1618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251C"/>
                </a:solidFill>
              </a:rPr>
              <a:t>Services informatiques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3758184" y="3685032"/>
            <a:ext cx="21305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070" dirty="0">
                <a:solidFill>
                  <a:srgbClr val="526159"/>
                </a:solidFill>
              </a:rPr>
              <a:t>Contrats et abonnements</a:t>
            </a:r>
            <a:endParaRPr lang="en-US" sz="1070" dirty="0"/>
          </a:p>
          <a:p>
            <a:pPr marL="177800" indent="-177800">
              <a:buSzPct val="100000"/>
              <a:buChar char="•"/>
            </a:pPr>
            <a:r>
              <a:rPr lang="en-US" sz="1070" dirty="0">
                <a:solidFill>
                  <a:srgbClr val="526159"/>
                </a:solidFill>
              </a:rPr>
              <a:t>Tickets d’assistance</a:t>
            </a:r>
            <a:endParaRPr lang="en-US" sz="1070" dirty="0"/>
          </a:p>
          <a:p>
            <a:pPr marL="177800" indent="-177800">
              <a:buSzPct val="100000"/>
              <a:buChar char="•"/>
            </a:pPr>
            <a:r>
              <a:rPr lang="en-US" sz="1070" dirty="0">
                <a:solidFill>
                  <a:srgbClr val="526159"/>
                </a:solidFill>
              </a:rPr>
              <a:t>Temps passé et SLA</a:t>
            </a:r>
            <a:endParaRPr lang="en-US" sz="1070" dirty="0"/>
          </a:p>
          <a:p>
            <a:pPr marL="177800" indent="-177800">
              <a:buSzPct val="100000"/>
              <a:buChar char="•"/>
            </a:pPr>
            <a:r>
              <a:rPr lang="en-US" sz="1070" dirty="0">
                <a:solidFill>
                  <a:srgbClr val="526159"/>
                </a:solidFill>
              </a:rPr>
              <a:t>Renouvellements et SAV</a:t>
            </a:r>
            <a:endParaRPr lang="en-US" sz="1070" dirty="0"/>
          </a:p>
        </p:txBody>
      </p:sp>
      <p:sp>
        <p:nvSpPr>
          <p:cNvPr id="37" name="Shape 35"/>
          <p:cNvSpPr/>
          <p:nvPr/>
        </p:nvSpPr>
        <p:spPr>
          <a:xfrm>
            <a:off x="6400800" y="2852928"/>
            <a:ext cx="2606040" cy="2596896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0160">
            <a:solidFill>
              <a:srgbClr val="D8E3D9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601968" y="3054096"/>
            <a:ext cx="457200" cy="457200"/>
          </a:xfrm>
          <a:prstGeom prst="ellipse">
            <a:avLst/>
          </a:prstGeom>
          <a:solidFill>
            <a:srgbClr val="234E2B"/>
          </a:solidFill>
          <a:ln w="12700">
            <a:solidFill>
              <a:srgbClr val="234E2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601968" y="3159252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187184" y="3063240"/>
            <a:ext cx="1618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251C"/>
                </a:solidFill>
              </a:rPr>
              <a:t>Communication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629400" y="3685032"/>
            <a:ext cx="21305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070" dirty="0">
                <a:solidFill>
                  <a:srgbClr val="526159"/>
                </a:solidFill>
              </a:rPr>
              <a:t>Brief et bon à tirer</a:t>
            </a:r>
            <a:endParaRPr lang="en-US" sz="1070" dirty="0"/>
          </a:p>
          <a:p>
            <a:pPr marL="177800" indent="-177800">
              <a:buSzPct val="100000"/>
              <a:buChar char="•"/>
            </a:pPr>
            <a:r>
              <a:rPr lang="en-US" sz="1070" dirty="0">
                <a:solidFill>
                  <a:srgbClr val="526159"/>
                </a:solidFill>
              </a:rPr>
              <a:t>Plan de charge créatif</a:t>
            </a:r>
            <a:endParaRPr lang="en-US" sz="1070" dirty="0"/>
          </a:p>
          <a:p>
            <a:pPr marL="177800" indent="-177800">
              <a:buSzPct val="100000"/>
              <a:buChar char="•"/>
            </a:pPr>
            <a:r>
              <a:rPr lang="en-US" sz="1070" dirty="0">
                <a:solidFill>
                  <a:srgbClr val="526159"/>
                </a:solidFill>
              </a:rPr>
              <a:t>Sous-traitance / impression</a:t>
            </a:r>
            <a:endParaRPr lang="en-US" sz="1070" dirty="0"/>
          </a:p>
          <a:p>
            <a:pPr marL="177800" indent="-177800">
              <a:buSzPct val="100000"/>
              <a:buChar char="•"/>
            </a:pPr>
            <a:r>
              <a:rPr lang="en-US" sz="1070" dirty="0">
                <a:solidFill>
                  <a:srgbClr val="526159"/>
                </a:solidFill>
              </a:rPr>
              <a:t>Coût et marge par campagne</a:t>
            </a:r>
            <a:endParaRPr lang="en-US" sz="1070" dirty="0"/>
          </a:p>
        </p:txBody>
      </p:sp>
      <p:sp>
        <p:nvSpPr>
          <p:cNvPr id="42" name="Shape 40"/>
          <p:cNvSpPr/>
          <p:nvPr/>
        </p:nvSpPr>
        <p:spPr>
          <a:xfrm>
            <a:off x="9272016" y="2852928"/>
            <a:ext cx="2606040" cy="2596896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0160">
            <a:solidFill>
              <a:srgbClr val="D8E3D9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9473184" y="3054096"/>
            <a:ext cx="457200" cy="457200"/>
          </a:xfrm>
          <a:prstGeom prst="ellipse">
            <a:avLst/>
          </a:prstGeom>
          <a:solidFill>
            <a:srgbClr val="397443"/>
          </a:solidFill>
          <a:ln w="12700">
            <a:solidFill>
              <a:srgbClr val="39744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473184" y="3159252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BU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0058400" y="3063240"/>
            <a:ext cx="1618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251C"/>
                </a:solidFill>
              </a:rPr>
              <a:t>Bureautique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9500616" y="3685032"/>
            <a:ext cx="21305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070" dirty="0">
                <a:solidFill>
                  <a:srgbClr val="526159"/>
                </a:solidFill>
              </a:rPr>
              <a:t>Stock multi-dépôts</a:t>
            </a:r>
            <a:endParaRPr lang="en-US" sz="1070" dirty="0"/>
          </a:p>
          <a:p>
            <a:pPr marL="177800" indent="-177800">
              <a:buSzPct val="100000"/>
              <a:buChar char="•"/>
            </a:pPr>
            <a:r>
              <a:rPr lang="en-US" sz="1070" dirty="0">
                <a:solidFill>
                  <a:srgbClr val="526159"/>
                </a:solidFill>
              </a:rPr>
              <a:t>Kits et nomenclatures</a:t>
            </a:r>
            <a:endParaRPr lang="en-US" sz="1070" dirty="0"/>
          </a:p>
          <a:p>
            <a:pPr marL="177800" indent="-177800">
              <a:buSzPct val="100000"/>
              <a:buChar char="•"/>
            </a:pPr>
            <a:r>
              <a:rPr lang="en-US" sz="1070" dirty="0">
                <a:solidFill>
                  <a:srgbClr val="526159"/>
                </a:solidFill>
              </a:rPr>
              <a:t>Inventaires et seuils</a:t>
            </a:r>
            <a:endParaRPr lang="en-US" sz="1070" dirty="0"/>
          </a:p>
          <a:p>
            <a:pPr marL="177800" indent="-177800">
              <a:buSzPct val="100000"/>
              <a:buChar char="•"/>
            </a:pPr>
            <a:r>
              <a:rPr lang="en-US" sz="1070" dirty="0">
                <a:solidFill>
                  <a:srgbClr val="526159"/>
                </a:solidFill>
              </a:rPr>
              <a:t>Vente, location ou installation</a:t>
            </a:r>
            <a:endParaRPr lang="en-US" sz="1070" dirty="0"/>
          </a:p>
        </p:txBody>
      </p:sp>
      <p:sp>
        <p:nvSpPr>
          <p:cNvPr id="47" name="Text 45"/>
          <p:cNvSpPr/>
          <p:nvPr/>
        </p:nvSpPr>
        <p:spPr>
          <a:xfrm>
            <a:off x="685800" y="5852160"/>
            <a:ext cx="10744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234E2B"/>
                </a:solidFill>
              </a:rPr>
              <a:t>Résultat attendu : connaître la marge réelle de chaque vente, contrat, campagne ou intervention.</a:t>
            </a:r>
            <a:endParaRPr lang="en-US" sz="12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80" kern="0" dirty="0">
                <a:solidFill>
                  <a:srgbClr val="397443"/>
                </a:solidFill>
              </a:rPr>
              <a:t>MÉTIERS 05 &amp; SERVICES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640080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51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Transport, logistique, résidences &amp; traiteur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03504" y="109728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159"/>
                </a:solidFill>
              </a:rPr>
              <a:t>Des opérations planifiées et facturées depuis la même base clients, fournisseurs et trésorerie.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6510528"/>
            <a:ext cx="4846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7180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OFFRE ERP • OLIVE DANAROY • JUILLET 2026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155680" y="6473952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180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600200"/>
            <a:ext cx="5532120" cy="4498848"/>
          </a:xfrm>
          <a:prstGeom prst="roundRect">
            <a:avLst>
              <a:gd name="adj" fmla="val 1626"/>
            </a:avLst>
          </a:prstGeom>
          <a:solidFill>
            <a:srgbClr val="234E2B"/>
          </a:solidFill>
          <a:ln w="12700">
            <a:solidFill>
              <a:srgbClr val="234E2B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87552" y="1947672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TRANSPORT &amp; LOGISTIQUE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87552" y="2542032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9D928"/>
                </a:solidFill>
              </a:rPr>
              <a:t>Ordre de mission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331720" y="2505456"/>
            <a:ext cx="429768" cy="347472"/>
          </a:xfrm>
          <a:prstGeom prst="chevron">
            <a:avLst/>
          </a:prstGeom>
          <a:solidFill>
            <a:srgbClr val="9DB43B">
              <a:alpha val="92000"/>
            </a:srgbClr>
          </a:solidFill>
          <a:ln w="12700">
            <a:solidFill>
              <a:srgbClr val="9DB4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71216" y="254203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9D928"/>
                </a:solidFill>
              </a:rPr>
              <a:t>Affectation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005072" y="2505456"/>
            <a:ext cx="429768" cy="347472"/>
          </a:xfrm>
          <a:prstGeom prst="chevron">
            <a:avLst/>
          </a:prstGeom>
          <a:solidFill>
            <a:srgbClr val="9DB43B">
              <a:alpha val="92000"/>
            </a:srgbClr>
          </a:solidFill>
          <a:ln w="12700">
            <a:solidFill>
              <a:srgbClr val="9DB4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53712" y="2542032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9D928"/>
                </a:solidFill>
              </a:rPr>
              <a:t>Livraison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87552" y="3127248"/>
            <a:ext cx="46634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30" dirty="0">
                <a:solidFill>
                  <a:srgbClr val="EAF2EB"/>
                </a:solidFill>
              </a:rPr>
              <a:t>Véhicules, chauffeurs, documents et disponibilité</a:t>
            </a:r>
            <a:endParaRPr lang="en-US" sz="1230" dirty="0"/>
          </a:p>
          <a:p>
            <a:pPr marL="177800" indent="-177800">
              <a:buSzPct val="100000"/>
              <a:buChar char="•"/>
            </a:pPr>
            <a:r>
              <a:rPr lang="en-US" sz="1230" dirty="0">
                <a:solidFill>
                  <a:srgbClr val="EAF2EB"/>
                </a:solidFill>
              </a:rPr>
              <a:t>Carburant, péages, avances et dépenses de mission</a:t>
            </a:r>
            <a:endParaRPr lang="en-US" sz="1230" dirty="0"/>
          </a:p>
          <a:p>
            <a:pPr marL="177800" indent="-177800">
              <a:buSzPct val="100000"/>
              <a:buChar char="•"/>
            </a:pPr>
            <a:r>
              <a:rPr lang="en-US" sz="1230" dirty="0">
                <a:solidFill>
                  <a:srgbClr val="EAF2EB"/>
                </a:solidFill>
              </a:rPr>
              <a:t>Maintenance préventive, pannes et immobilisations</a:t>
            </a:r>
            <a:endParaRPr lang="en-US" sz="1230" dirty="0"/>
          </a:p>
          <a:p>
            <a:pPr marL="177800" indent="-177800">
              <a:buSzPct val="100000"/>
              <a:buChar char="•"/>
            </a:pPr>
            <a:r>
              <a:rPr lang="en-US" sz="1230" dirty="0">
                <a:solidFill>
                  <a:srgbClr val="EAF2EB"/>
                </a:solidFill>
              </a:rPr>
              <a:t>Preuve de livraison, facturation et rentabilité par trajet</a:t>
            </a:r>
            <a:endParaRPr lang="en-US" sz="1230" dirty="0"/>
          </a:p>
        </p:txBody>
      </p:sp>
      <p:sp>
        <p:nvSpPr>
          <p:cNvPr id="15" name="Text 13"/>
          <p:cNvSpPr/>
          <p:nvPr/>
        </p:nvSpPr>
        <p:spPr>
          <a:xfrm>
            <a:off x="987552" y="5257800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E9D9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Coût/km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987552" y="57790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EAF2EB"/>
                </a:solidFill>
              </a:rPr>
              <a:t>indicateur flotte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246120" y="5257800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E9D9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Taux d’usage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3246120" y="57790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EAF2EB"/>
                </a:solidFill>
              </a:rPr>
              <a:t>indicateur disponibilité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46520" y="1600200"/>
            <a:ext cx="5102352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0160">
            <a:solidFill>
              <a:srgbClr val="D8E3D9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647688" y="1801368"/>
            <a:ext cx="457200" cy="457200"/>
          </a:xfrm>
          <a:prstGeom prst="ellipse">
            <a:avLst/>
          </a:prstGeom>
          <a:solidFill>
            <a:srgbClr val="397443"/>
          </a:solidFill>
          <a:ln w="12700">
            <a:solidFill>
              <a:srgbClr val="39744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47688" y="1906524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232904" y="181051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251C"/>
                </a:solidFill>
              </a:rPr>
              <a:t>Résidences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665976" y="2221992"/>
            <a:ext cx="4663440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26159"/>
                </a:solidFill>
              </a:rPr>
              <a:t>Disponibilités, réservation, check-in/check-out, dépôt de garantie, prestations annexes, facturation et état des chambres.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46520" y="3904488"/>
            <a:ext cx="5102352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0160">
            <a:solidFill>
              <a:srgbClr val="D8E3D9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647688" y="4105656"/>
            <a:ext cx="457200" cy="457200"/>
          </a:xfrm>
          <a:prstGeom prst="ellipse">
            <a:avLst/>
          </a:prstGeom>
          <a:solidFill>
            <a:srgbClr val="9DB43B"/>
          </a:solidFill>
          <a:ln w="12700">
            <a:solidFill>
              <a:srgbClr val="9DB43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47688" y="4210812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TC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232904" y="411480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251C"/>
                </a:solidFill>
              </a:rPr>
              <a:t>Traiteur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665976" y="4526280"/>
            <a:ext cx="466344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26159"/>
                </a:solidFill>
              </a:rPr>
              <a:t>Devis par nombre de couverts, menus, fiches techniques, besoins matières, planning de production, équipes, livraison et marge par événement.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48640" y="6510528"/>
            <a:ext cx="4846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7180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OFFRE ERP • OLIVE DANAROY • JUILLET 2026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1155680" y="6473952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180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80" kern="0" dirty="0">
                <a:solidFill>
                  <a:srgbClr val="397443"/>
                </a:solidFill>
              </a:rPr>
              <a:t>NOUVEAU MODULE 01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640080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51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Restaurant : de la commande à la marge par plat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03504" y="109728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159"/>
                </a:solidFill>
              </a:rPr>
              <a:t>Une caisse rapide reliée à la cuisine, au stock, aux recettes et à la comptabilité.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6510528"/>
            <a:ext cx="4846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7180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OFFRE ERP • OLIVE DANAROY • JUILLET 2026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155680" y="6473952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180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09</a:t>
            </a:r>
            <a:endParaRPr lang="en-US" sz="900" dirty="0"/>
          </a:p>
        </p:txBody>
      </p:sp>
      <p:pic>
        <p:nvPicPr>
          <p:cNvPr id="7" name="Image 0" descr="/Users/ogahserge/Documents/best_epargne/work/source_unpacked/ppt/media/image5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1792" y="1572768"/>
            <a:ext cx="4069080" cy="45262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50392" y="5230368"/>
            <a:ext cx="3611880" cy="585216"/>
          </a:xfrm>
          <a:prstGeom prst="roundRect">
            <a:avLst>
              <a:gd name="adj" fmla="val 7813"/>
            </a:avLst>
          </a:prstGeom>
          <a:solidFill>
            <a:srgbClr val="17251C">
              <a:alpha val="90000"/>
            </a:srgbClr>
          </a:solidFill>
          <a:ln w="12700">
            <a:solidFill>
              <a:srgbClr val="17251C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78992" y="5431536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Caisse • cuisine • stock • marge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956048" y="1591056"/>
            <a:ext cx="299923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D8E3D9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157216" y="1792224"/>
            <a:ext cx="457200" cy="457200"/>
          </a:xfrm>
          <a:prstGeom prst="ellipse">
            <a:avLst/>
          </a:prstGeom>
          <a:solidFill>
            <a:srgbClr val="234E2B"/>
          </a:solidFill>
          <a:ln w="12700">
            <a:solidFill>
              <a:srgbClr val="234E2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157216" y="1897380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PV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742432" y="18013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251C"/>
                </a:solidFill>
              </a:rPr>
              <a:t>Point de vente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5175504" y="2212848"/>
            <a:ext cx="25603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526159"/>
                </a:solidFill>
              </a:rPr>
              <a:t>Tables, comptoir, emporter, livraison, remises, annulations et clôture de caisse.</a:t>
            </a:r>
            <a:endParaRPr lang="en-US" sz="1090" dirty="0"/>
          </a:p>
        </p:txBody>
      </p:sp>
      <p:sp>
        <p:nvSpPr>
          <p:cNvPr id="15" name="Shape 12"/>
          <p:cNvSpPr/>
          <p:nvPr/>
        </p:nvSpPr>
        <p:spPr>
          <a:xfrm>
            <a:off x="8266176" y="1591056"/>
            <a:ext cx="299923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D8E3D9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467344" y="1792224"/>
            <a:ext cx="457200" cy="457200"/>
          </a:xfrm>
          <a:prstGeom prst="ellipse">
            <a:avLst/>
          </a:prstGeom>
          <a:solidFill>
            <a:srgbClr val="397443"/>
          </a:solidFill>
          <a:ln w="12700">
            <a:solidFill>
              <a:srgbClr val="39744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467344" y="1897380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CU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9052560" y="18013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251C"/>
                </a:solidFill>
              </a:rPr>
              <a:t>Cuisine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8485632" y="2212848"/>
            <a:ext cx="25603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526159"/>
                </a:solidFill>
              </a:rPr>
              <a:t>Tickets cuisine, priorités, statuts, temps de préparation et ruptures.</a:t>
            </a:r>
            <a:endParaRPr lang="en-US" sz="1090" dirty="0"/>
          </a:p>
        </p:txBody>
      </p:sp>
      <p:sp>
        <p:nvSpPr>
          <p:cNvPr id="20" name="Shape 17"/>
          <p:cNvSpPr/>
          <p:nvPr/>
        </p:nvSpPr>
        <p:spPr>
          <a:xfrm>
            <a:off x="4956048" y="3721608"/>
            <a:ext cx="299923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D8E3D9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157216" y="3922776"/>
            <a:ext cx="457200" cy="457200"/>
          </a:xfrm>
          <a:prstGeom prst="ellipse">
            <a:avLst/>
          </a:prstGeom>
          <a:solidFill>
            <a:srgbClr val="234E2B"/>
          </a:solidFill>
          <a:ln w="12700">
            <a:solidFill>
              <a:srgbClr val="234E2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157216" y="4027932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ST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5742432" y="39319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251C"/>
                </a:solidFill>
              </a:rPr>
              <a:t>Recettes &amp; stock</a:t>
            </a:r>
            <a:endParaRPr lang="en-US" sz="1450" dirty="0"/>
          </a:p>
        </p:txBody>
      </p:sp>
      <p:sp>
        <p:nvSpPr>
          <p:cNvPr id="24" name="Text 21"/>
          <p:cNvSpPr/>
          <p:nvPr/>
        </p:nvSpPr>
        <p:spPr>
          <a:xfrm>
            <a:off x="5175504" y="4343400"/>
            <a:ext cx="25603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526159"/>
                </a:solidFill>
              </a:rPr>
              <a:t>Fiches techniques, portions, consommations automatiques, pertes et inventaires.</a:t>
            </a:r>
            <a:endParaRPr lang="en-US" sz="1090" dirty="0"/>
          </a:p>
        </p:txBody>
      </p:sp>
      <p:sp>
        <p:nvSpPr>
          <p:cNvPr id="25" name="Shape 22"/>
          <p:cNvSpPr/>
          <p:nvPr/>
        </p:nvSpPr>
        <p:spPr>
          <a:xfrm>
            <a:off x="8266176" y="3721608"/>
            <a:ext cx="299923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D8E3D9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8467344" y="3922776"/>
            <a:ext cx="457200" cy="457200"/>
          </a:xfrm>
          <a:prstGeom prst="ellipse">
            <a:avLst/>
          </a:prstGeom>
          <a:solidFill>
            <a:srgbClr val="397443"/>
          </a:solidFill>
          <a:ln w="12700">
            <a:solidFill>
              <a:srgbClr val="39744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467344" y="4027932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CL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9052560" y="39319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251C"/>
                </a:solidFill>
              </a:rPr>
              <a:t>Clients &amp; fidélité</a:t>
            </a:r>
            <a:endParaRPr lang="en-US" sz="1450" dirty="0"/>
          </a:p>
        </p:txBody>
      </p:sp>
      <p:sp>
        <p:nvSpPr>
          <p:cNvPr id="29" name="Text 26"/>
          <p:cNvSpPr/>
          <p:nvPr/>
        </p:nvSpPr>
        <p:spPr>
          <a:xfrm>
            <a:off x="8485632" y="4343400"/>
            <a:ext cx="25603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526159"/>
                </a:solidFill>
              </a:rPr>
              <a:t>Réservations, historique, comptes entreprise, points et abonnements.</a:t>
            </a:r>
            <a:endParaRPr lang="en-US" sz="1090" dirty="0"/>
          </a:p>
        </p:txBody>
      </p:sp>
      <p:sp>
        <p:nvSpPr>
          <p:cNvPr id="30" name="Shape 27"/>
          <p:cNvSpPr/>
          <p:nvPr/>
        </p:nvSpPr>
        <p:spPr>
          <a:xfrm>
            <a:off x="4956048" y="5669280"/>
            <a:ext cx="6309360" cy="420624"/>
          </a:xfrm>
          <a:prstGeom prst="roundRect">
            <a:avLst>
              <a:gd name="adj" fmla="val 10870"/>
            </a:avLst>
          </a:prstGeom>
          <a:solidFill>
            <a:srgbClr val="E6EFE7"/>
          </a:solidFill>
          <a:ln w="12700">
            <a:solidFill>
              <a:srgbClr val="E6EFE7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166360" y="5806440"/>
            <a:ext cx="58887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234E2B"/>
                </a:solidFill>
              </a:rPr>
              <a:t>KPI : chiffre d’affaires/jour • ticket moyen • coût matière • pertes • marge par plat • écart de caisse</a:t>
            </a:r>
            <a:endParaRPr lang="en-US" sz="10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80" kern="0" dirty="0">
                <a:solidFill>
                  <a:srgbClr val="397443"/>
                </a:solidFill>
              </a:rPr>
              <a:t>NOUVEAU MODULE 02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640080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51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Location de salles : sécuriser le calendrier et les acomptes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03504" y="109728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159"/>
                </a:solidFill>
              </a:rPr>
              <a:t>Une vue unique des disponibilités, des options, des contrats, des prestations et des soldes à encaisser.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6510528"/>
            <a:ext cx="4846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7180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OFFRE ERP • OLIVE DANAROY • JUILLET 2026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155680" y="6473952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180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600200"/>
            <a:ext cx="6675120" cy="4480560"/>
          </a:xfrm>
          <a:prstGeom prst="roundRect">
            <a:avLst>
              <a:gd name="adj" fmla="val 1633"/>
            </a:avLst>
          </a:prstGeom>
          <a:solidFill>
            <a:srgbClr val="F3F7F3"/>
          </a:solidFill>
          <a:ln w="12700">
            <a:solidFill>
              <a:srgbClr val="D8E3D9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41832" y="19202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4E2B"/>
                </a:solidFill>
              </a:rPr>
              <a:t>JUILLET 2026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32688" y="2423160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26159"/>
                </a:solidFill>
              </a:rPr>
              <a:t>LUN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792224" y="2423160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26159"/>
                </a:solidFill>
              </a:rPr>
              <a:t>MAR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651760" y="2423160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26159"/>
                </a:solidFill>
              </a:rPr>
              <a:t>MER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511296" y="2423160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26159"/>
                </a:solidFill>
              </a:rPr>
              <a:t>JEU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370832" y="2423160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26159"/>
                </a:solidFill>
              </a:rPr>
              <a:t>VEN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230368" y="2423160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26159"/>
                </a:solidFill>
              </a:rPr>
              <a:t>SAM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089904" y="2423160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26159"/>
                </a:solidFill>
              </a:rPr>
              <a:t>DIM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932688" y="2743200"/>
            <a:ext cx="713232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2700">
            <a:solidFill>
              <a:srgbClr val="D8E3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2816352"/>
            <a:ext cx="182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26159"/>
                </a:solidFill>
              </a:rPr>
              <a:t>1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792224" y="2743200"/>
            <a:ext cx="713232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2700">
            <a:solidFill>
              <a:srgbClr val="D8E3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65376" y="2816352"/>
            <a:ext cx="182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26159"/>
                </a:solidFill>
              </a:rPr>
              <a:t>2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651760" y="2743200"/>
            <a:ext cx="713232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2700">
            <a:solidFill>
              <a:srgbClr val="D8E3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24912" y="2816352"/>
            <a:ext cx="182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26159"/>
                </a:solidFill>
              </a:rPr>
              <a:t>3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511296" y="2743200"/>
            <a:ext cx="713232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2700">
            <a:solidFill>
              <a:srgbClr val="D8E3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84448" y="2816352"/>
            <a:ext cx="182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26159"/>
                </a:solidFill>
              </a:rPr>
              <a:t>4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584448" y="3026664"/>
            <a:ext cx="566928" cy="182880"/>
          </a:xfrm>
          <a:prstGeom prst="roundRect">
            <a:avLst>
              <a:gd name="adj" fmla="val 15000"/>
            </a:avLst>
          </a:prstGeom>
          <a:solidFill>
            <a:srgbClr val="397443"/>
          </a:solidFill>
          <a:ln w="12700">
            <a:solidFill>
              <a:srgbClr val="39744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70832" y="2743200"/>
            <a:ext cx="713232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2700">
            <a:solidFill>
              <a:srgbClr val="D8E3D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43984" y="2816352"/>
            <a:ext cx="182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26159"/>
                </a:solidFill>
              </a:rPr>
              <a:t>5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230368" y="2743200"/>
            <a:ext cx="713232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2700">
            <a:solidFill>
              <a:srgbClr val="D8E3D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03520" y="2816352"/>
            <a:ext cx="182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26159"/>
                </a:solidFill>
              </a:rPr>
              <a:t>6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089904" y="2743200"/>
            <a:ext cx="713232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2700">
            <a:solidFill>
              <a:srgbClr val="D8E3D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63056" y="2816352"/>
            <a:ext cx="182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26159"/>
                </a:solidFill>
              </a:rPr>
              <a:t>7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932688" y="3456432"/>
            <a:ext cx="713232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2700">
            <a:solidFill>
              <a:srgbClr val="D8E3D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05840" y="3529584"/>
            <a:ext cx="182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26159"/>
                </a:solidFill>
              </a:rPr>
              <a:t>8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1792224" y="3456432"/>
            <a:ext cx="713232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2700">
            <a:solidFill>
              <a:srgbClr val="D8E3D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865376" y="3529584"/>
            <a:ext cx="182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26159"/>
                </a:solidFill>
              </a:rPr>
              <a:t>9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651760" y="3456432"/>
            <a:ext cx="713232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2700">
            <a:solidFill>
              <a:srgbClr val="D8E3D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24912" y="3529584"/>
            <a:ext cx="182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26159"/>
                </a:solidFill>
              </a:rPr>
              <a:t>10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511296" y="3456432"/>
            <a:ext cx="713232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2700">
            <a:solidFill>
              <a:srgbClr val="D8E3D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84448" y="3529584"/>
            <a:ext cx="182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26159"/>
                </a:solidFill>
              </a:rPr>
              <a:t>11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370832" y="3456432"/>
            <a:ext cx="713232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2700">
            <a:solidFill>
              <a:srgbClr val="D8E3D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443984" y="3529584"/>
            <a:ext cx="182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26159"/>
                </a:solidFill>
              </a:rPr>
              <a:t>12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230368" y="3456432"/>
            <a:ext cx="713232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2700">
            <a:solidFill>
              <a:srgbClr val="D8E3D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303520" y="3529584"/>
            <a:ext cx="182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26159"/>
                </a:solidFill>
              </a:rPr>
              <a:t>13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5303520" y="3739896"/>
            <a:ext cx="566928" cy="182880"/>
          </a:xfrm>
          <a:prstGeom prst="roundRect">
            <a:avLst>
              <a:gd name="adj" fmla="val 15000"/>
            </a:avLst>
          </a:prstGeom>
          <a:solidFill>
            <a:srgbClr val="D69A22"/>
          </a:solidFill>
          <a:ln w="12700">
            <a:solidFill>
              <a:srgbClr val="D69A2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089904" y="3456432"/>
            <a:ext cx="713232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2700">
            <a:solidFill>
              <a:srgbClr val="D8E3D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163056" y="3529584"/>
            <a:ext cx="182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26159"/>
                </a:solidFill>
              </a:rPr>
              <a:t>14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932688" y="4169664"/>
            <a:ext cx="713232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2700">
            <a:solidFill>
              <a:srgbClr val="D8E3D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05840" y="4242816"/>
            <a:ext cx="182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26159"/>
                </a:solidFill>
              </a:rPr>
              <a:t>15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1792224" y="4169664"/>
            <a:ext cx="713232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2700">
            <a:solidFill>
              <a:srgbClr val="D8E3D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865376" y="4242816"/>
            <a:ext cx="182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26159"/>
                </a:solidFill>
              </a:rPr>
              <a:t>16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2651760" y="4169664"/>
            <a:ext cx="713232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2700">
            <a:solidFill>
              <a:srgbClr val="D8E3D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724912" y="4242816"/>
            <a:ext cx="182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26159"/>
                </a:solidFill>
              </a:rPr>
              <a:t>17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3511296" y="4169664"/>
            <a:ext cx="713232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2700">
            <a:solidFill>
              <a:srgbClr val="D8E3D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584448" y="4242816"/>
            <a:ext cx="182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26159"/>
                </a:solidFill>
              </a:rPr>
              <a:t>18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4370832" y="4169664"/>
            <a:ext cx="713232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2700">
            <a:solidFill>
              <a:srgbClr val="D8E3D9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443984" y="4242816"/>
            <a:ext cx="182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26159"/>
                </a:solidFill>
              </a:rPr>
              <a:t>19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4443984" y="4453128"/>
            <a:ext cx="566928" cy="182880"/>
          </a:xfrm>
          <a:prstGeom prst="roundRect">
            <a:avLst>
              <a:gd name="adj" fmla="val 15000"/>
            </a:avLst>
          </a:prstGeom>
          <a:solidFill>
            <a:srgbClr val="397443"/>
          </a:solidFill>
          <a:ln w="12700">
            <a:solidFill>
              <a:srgbClr val="397443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230368" y="4169664"/>
            <a:ext cx="713232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2700">
            <a:solidFill>
              <a:srgbClr val="D8E3D9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303520" y="4242816"/>
            <a:ext cx="182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26159"/>
                </a:solidFill>
              </a:rPr>
              <a:t>20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6089904" y="4169664"/>
            <a:ext cx="713232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2700">
            <a:solidFill>
              <a:srgbClr val="D8E3D9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163056" y="4242816"/>
            <a:ext cx="182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26159"/>
                </a:solidFill>
              </a:rPr>
              <a:t>21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932688" y="4882896"/>
            <a:ext cx="713232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2700">
            <a:solidFill>
              <a:srgbClr val="D8E3D9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005840" y="4956048"/>
            <a:ext cx="182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26159"/>
                </a:solidFill>
              </a:rPr>
              <a:t>22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1792224" y="4882896"/>
            <a:ext cx="713232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2700">
            <a:solidFill>
              <a:srgbClr val="D8E3D9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865376" y="4956048"/>
            <a:ext cx="182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26159"/>
                </a:solidFill>
              </a:rPr>
              <a:t>23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1865376" y="5166360"/>
            <a:ext cx="566928" cy="182880"/>
          </a:xfrm>
          <a:prstGeom prst="roundRect">
            <a:avLst>
              <a:gd name="adj" fmla="val 15000"/>
            </a:avLst>
          </a:prstGeom>
          <a:solidFill>
            <a:srgbClr val="397443"/>
          </a:solidFill>
          <a:ln w="12700">
            <a:solidFill>
              <a:srgbClr val="397443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651760" y="4882896"/>
            <a:ext cx="713232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2700">
            <a:solidFill>
              <a:srgbClr val="D8E3D9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724912" y="4956048"/>
            <a:ext cx="182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26159"/>
                </a:solidFill>
              </a:rPr>
              <a:t>24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3511296" y="4882896"/>
            <a:ext cx="713232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2700">
            <a:solidFill>
              <a:srgbClr val="D8E3D9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584448" y="4956048"/>
            <a:ext cx="182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26159"/>
                </a:solidFill>
              </a:rPr>
              <a:t>25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4370832" y="4882896"/>
            <a:ext cx="713232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2700">
            <a:solidFill>
              <a:srgbClr val="D8E3D9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443984" y="4956048"/>
            <a:ext cx="182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26159"/>
                </a:solidFill>
              </a:rPr>
              <a:t>26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5230368" y="4882896"/>
            <a:ext cx="713232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2700">
            <a:solidFill>
              <a:srgbClr val="D8E3D9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303520" y="4956048"/>
            <a:ext cx="182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26159"/>
                </a:solidFill>
              </a:rPr>
              <a:t>27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6089904" y="4882896"/>
            <a:ext cx="713232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2700">
            <a:solidFill>
              <a:srgbClr val="D8E3D9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163056" y="4956048"/>
            <a:ext cx="182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26159"/>
                </a:solidFill>
              </a:rPr>
              <a:t>28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960120" y="5650992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97443"/>
                </a:solidFill>
              </a:rPr>
              <a:t>CONFIRMÉ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1920240" y="565099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69A22"/>
                </a:solidFill>
              </a:rPr>
              <a:t>OPTION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7616952" y="1600200"/>
            <a:ext cx="3931920" cy="941832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 w="10160">
            <a:solidFill>
              <a:srgbClr val="D8E3D9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7818120" y="1801368"/>
            <a:ext cx="384048" cy="384048"/>
          </a:xfrm>
          <a:prstGeom prst="ellipse">
            <a:avLst/>
          </a:prstGeom>
          <a:solidFill>
            <a:srgbClr val="234E2B"/>
          </a:solidFill>
          <a:ln w="12700">
            <a:solidFill>
              <a:srgbClr val="234E2B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7818120" y="1889699"/>
            <a:ext cx="384048" cy="1075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dirty="0">
                <a:solidFill>
                  <a:srgbClr val="FFFFFF"/>
                </a:solidFill>
              </a:rPr>
              <a:t>R</a:t>
            </a:r>
            <a:endParaRPr lang="en-US" sz="756" dirty="0"/>
          </a:p>
        </p:txBody>
      </p:sp>
      <p:sp>
        <p:nvSpPr>
          <p:cNvPr id="81" name="Text 79"/>
          <p:cNvSpPr/>
          <p:nvPr/>
        </p:nvSpPr>
        <p:spPr>
          <a:xfrm>
            <a:off x="8403336" y="1810512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51C"/>
                </a:solidFill>
              </a:rPr>
              <a:t>Réservation</a:t>
            </a:r>
            <a:endParaRPr lang="en-US" sz="1300" dirty="0"/>
          </a:p>
        </p:txBody>
      </p:sp>
      <p:sp>
        <p:nvSpPr>
          <p:cNvPr id="82" name="Text 80"/>
          <p:cNvSpPr/>
          <p:nvPr/>
        </p:nvSpPr>
        <p:spPr>
          <a:xfrm>
            <a:off x="7836408" y="2221992"/>
            <a:ext cx="34930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526159"/>
                </a:solidFill>
              </a:rPr>
              <a:t>Capacité, type d’événement, créneau, option et date d’expiration.</a:t>
            </a:r>
            <a:endParaRPr lang="en-US" sz="960" dirty="0"/>
          </a:p>
        </p:txBody>
      </p:sp>
      <p:sp>
        <p:nvSpPr>
          <p:cNvPr id="83" name="Shape 81"/>
          <p:cNvSpPr/>
          <p:nvPr/>
        </p:nvSpPr>
        <p:spPr>
          <a:xfrm>
            <a:off x="7616952" y="2660904"/>
            <a:ext cx="3931920" cy="941832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 w="10160">
            <a:solidFill>
              <a:srgbClr val="D8E3D9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7818120" y="2862072"/>
            <a:ext cx="384048" cy="384048"/>
          </a:xfrm>
          <a:prstGeom prst="ellipse">
            <a:avLst/>
          </a:prstGeom>
          <a:solidFill>
            <a:srgbClr val="397443"/>
          </a:solidFill>
          <a:ln w="12700">
            <a:solidFill>
              <a:srgbClr val="397443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7818120" y="2950403"/>
            <a:ext cx="384048" cy="1075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dirty="0">
                <a:solidFill>
                  <a:srgbClr val="FFFFFF"/>
                </a:solidFill>
              </a:rPr>
              <a:t>D</a:t>
            </a:r>
            <a:endParaRPr lang="en-US" sz="756" dirty="0"/>
          </a:p>
        </p:txBody>
      </p:sp>
      <p:sp>
        <p:nvSpPr>
          <p:cNvPr id="86" name="Text 84"/>
          <p:cNvSpPr/>
          <p:nvPr/>
        </p:nvSpPr>
        <p:spPr>
          <a:xfrm>
            <a:off x="8403336" y="2871216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51C"/>
                </a:solidFill>
              </a:rPr>
              <a:t>Devis &amp; contrat</a:t>
            </a:r>
            <a:endParaRPr lang="en-US" sz="1300" dirty="0"/>
          </a:p>
        </p:txBody>
      </p:sp>
      <p:sp>
        <p:nvSpPr>
          <p:cNvPr id="87" name="Text 85"/>
          <p:cNvSpPr/>
          <p:nvPr/>
        </p:nvSpPr>
        <p:spPr>
          <a:xfrm>
            <a:off x="7836408" y="3282696"/>
            <a:ext cx="34930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526159"/>
                </a:solidFill>
              </a:rPr>
              <a:t>Salle, décoration, sonorisation, restauration, personnel et taxes.</a:t>
            </a:r>
            <a:endParaRPr lang="en-US" sz="960" dirty="0"/>
          </a:p>
        </p:txBody>
      </p:sp>
      <p:sp>
        <p:nvSpPr>
          <p:cNvPr id="88" name="Shape 86"/>
          <p:cNvSpPr/>
          <p:nvPr/>
        </p:nvSpPr>
        <p:spPr>
          <a:xfrm>
            <a:off x="7616952" y="3721608"/>
            <a:ext cx="3931920" cy="941832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 w="10160">
            <a:solidFill>
              <a:srgbClr val="D8E3D9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7818120" y="3922776"/>
            <a:ext cx="384048" cy="384048"/>
          </a:xfrm>
          <a:prstGeom prst="ellipse">
            <a:avLst/>
          </a:prstGeom>
          <a:solidFill>
            <a:srgbClr val="234E2B"/>
          </a:solidFill>
          <a:ln w="12700">
            <a:solidFill>
              <a:srgbClr val="234E2B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7818120" y="4011107"/>
            <a:ext cx="384048" cy="1075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dirty="0">
                <a:solidFill>
                  <a:srgbClr val="FFFFFF"/>
                </a:solidFill>
              </a:rPr>
              <a:t>A</a:t>
            </a:r>
            <a:endParaRPr lang="en-US" sz="756" dirty="0"/>
          </a:p>
        </p:txBody>
      </p:sp>
      <p:sp>
        <p:nvSpPr>
          <p:cNvPr id="91" name="Text 89"/>
          <p:cNvSpPr/>
          <p:nvPr/>
        </p:nvSpPr>
        <p:spPr>
          <a:xfrm>
            <a:off x="8403336" y="3931920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51C"/>
                </a:solidFill>
              </a:rPr>
              <a:t>Acompte &amp; solde</a:t>
            </a:r>
            <a:endParaRPr lang="en-US" sz="1300" dirty="0"/>
          </a:p>
        </p:txBody>
      </p:sp>
      <p:sp>
        <p:nvSpPr>
          <p:cNvPr id="92" name="Text 90"/>
          <p:cNvSpPr/>
          <p:nvPr/>
        </p:nvSpPr>
        <p:spPr>
          <a:xfrm>
            <a:off x="7836408" y="4343400"/>
            <a:ext cx="34930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526159"/>
                </a:solidFill>
              </a:rPr>
              <a:t>Échéancier, reçus, relances, dépôt de garantie et remboursement.</a:t>
            </a:r>
            <a:endParaRPr lang="en-US" sz="960" dirty="0"/>
          </a:p>
        </p:txBody>
      </p:sp>
      <p:sp>
        <p:nvSpPr>
          <p:cNvPr id="93" name="Shape 91"/>
          <p:cNvSpPr/>
          <p:nvPr/>
        </p:nvSpPr>
        <p:spPr>
          <a:xfrm>
            <a:off x="7616952" y="4782312"/>
            <a:ext cx="3931920" cy="941832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 w="10160">
            <a:solidFill>
              <a:srgbClr val="D8E3D9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7818120" y="4983480"/>
            <a:ext cx="384048" cy="384048"/>
          </a:xfrm>
          <a:prstGeom prst="ellipse">
            <a:avLst/>
          </a:prstGeom>
          <a:solidFill>
            <a:srgbClr val="397443"/>
          </a:solidFill>
          <a:ln w="12700">
            <a:solidFill>
              <a:srgbClr val="397443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7818120" y="5071811"/>
            <a:ext cx="384048" cy="1075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dirty="0">
                <a:solidFill>
                  <a:srgbClr val="FFFFFF"/>
                </a:solidFill>
              </a:rPr>
              <a:t>E</a:t>
            </a:r>
            <a:endParaRPr lang="en-US" sz="756" dirty="0"/>
          </a:p>
        </p:txBody>
      </p:sp>
      <p:sp>
        <p:nvSpPr>
          <p:cNvPr id="96" name="Text 94"/>
          <p:cNvSpPr/>
          <p:nvPr/>
        </p:nvSpPr>
        <p:spPr>
          <a:xfrm>
            <a:off x="8403336" y="4992624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51C"/>
                </a:solidFill>
              </a:rPr>
              <a:t>Exécution</a:t>
            </a:r>
            <a:endParaRPr lang="en-US" sz="1300" dirty="0"/>
          </a:p>
        </p:txBody>
      </p:sp>
      <p:sp>
        <p:nvSpPr>
          <p:cNvPr id="97" name="Text 95"/>
          <p:cNvSpPr/>
          <p:nvPr/>
        </p:nvSpPr>
        <p:spPr>
          <a:xfrm>
            <a:off x="7836408" y="5404104"/>
            <a:ext cx="34930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526159"/>
                </a:solidFill>
              </a:rPr>
              <a:t>Checklist, plan de salle, équipements, incidents et état des lieux.</a:t>
            </a:r>
            <a:endParaRPr lang="en-US" sz="960" dirty="0"/>
          </a:p>
        </p:txBody>
      </p:sp>
      <p:sp>
        <p:nvSpPr>
          <p:cNvPr id="98" name="Shape 96"/>
          <p:cNvSpPr/>
          <p:nvPr/>
        </p:nvSpPr>
        <p:spPr>
          <a:xfrm>
            <a:off x="7635240" y="5870448"/>
            <a:ext cx="3886200" cy="347472"/>
          </a:xfrm>
          <a:prstGeom prst="roundRect">
            <a:avLst>
              <a:gd name="adj" fmla="val 10526"/>
            </a:avLst>
          </a:prstGeom>
          <a:solidFill>
            <a:srgbClr val="E6EFE7"/>
          </a:solidFill>
          <a:ln w="12700">
            <a:solidFill>
              <a:srgbClr val="E6EFE7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7818120" y="5980176"/>
            <a:ext cx="3520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34E2B"/>
                </a:solidFill>
              </a:rPr>
              <a:t>Anti-double réservation • CA prévisionnel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72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80" kern="0" dirty="0">
                <a:solidFill>
                  <a:srgbClr val="E9D928"/>
                </a:solidFill>
              </a:rPr>
              <a:t>NOUVEAU MODULE 03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640080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Lavage automobile : fluidifier le service et la caisse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03504" y="109728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6E5D8"/>
                </a:solidFill>
              </a:rPr>
              <a:t>Un ticket par véhicule, une file visible, des forfaits maîtrisés et une clôture de caisse traçable.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6510528"/>
            <a:ext cx="4846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D8E5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OFFRE ERP • OLIVE DANAROY • JUILLET 2026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155680" y="6473952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8E5D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737360"/>
            <a:ext cx="1508760" cy="1463040"/>
          </a:xfrm>
          <a:prstGeom prst="roundRect">
            <a:avLst>
              <a:gd name="adj" fmla="val 3750"/>
            </a:avLst>
          </a:prstGeom>
          <a:solidFill>
            <a:srgbClr val="2C3D31"/>
          </a:solidFill>
          <a:ln w="12700">
            <a:solidFill>
              <a:srgbClr val="4B62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3000" y="1965960"/>
            <a:ext cx="502920" cy="502920"/>
          </a:xfrm>
          <a:prstGeom prst="ellipse">
            <a:avLst/>
          </a:prstGeom>
          <a:solidFill>
            <a:srgbClr val="9DB43B"/>
          </a:solidFill>
          <a:ln w="12700">
            <a:solidFill>
              <a:srgbClr val="9DB4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2081632"/>
            <a:ext cx="502920" cy="140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90" b="1" dirty="0">
                <a:solidFill>
                  <a:srgbClr val="FFFFFF"/>
                </a:solidFill>
              </a:rPr>
              <a:t>1</a:t>
            </a:r>
            <a:endParaRPr lang="en-US" sz="990" dirty="0"/>
          </a:p>
        </p:txBody>
      </p:sp>
      <p:sp>
        <p:nvSpPr>
          <p:cNvPr id="10" name="Text 8"/>
          <p:cNvSpPr/>
          <p:nvPr/>
        </p:nvSpPr>
        <p:spPr>
          <a:xfrm>
            <a:off x="749808" y="2606040"/>
            <a:ext cx="1289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Arrivée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49808" y="2907792"/>
            <a:ext cx="1289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EAF2EB"/>
                </a:solidFill>
              </a:rPr>
              <a:t>Plaque • client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2194560" y="2267712"/>
            <a:ext cx="246888" cy="347472"/>
          </a:xfrm>
          <a:prstGeom prst="chevron">
            <a:avLst/>
          </a:prstGeom>
          <a:solidFill>
            <a:srgbClr val="6A8D6E">
              <a:alpha val="92000"/>
            </a:srgbClr>
          </a:solidFill>
          <a:ln w="12700">
            <a:solidFill>
              <a:srgbClr val="6A8D6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32888" y="1737360"/>
            <a:ext cx="1508760" cy="1463040"/>
          </a:xfrm>
          <a:prstGeom prst="roundRect">
            <a:avLst>
              <a:gd name="adj" fmla="val 3750"/>
            </a:avLst>
          </a:prstGeom>
          <a:solidFill>
            <a:srgbClr val="2C3D31"/>
          </a:solidFill>
          <a:ln w="12700">
            <a:solidFill>
              <a:srgbClr val="4B625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35808" y="1965960"/>
            <a:ext cx="502920" cy="502920"/>
          </a:xfrm>
          <a:prstGeom prst="ellipse">
            <a:avLst/>
          </a:prstGeom>
          <a:solidFill>
            <a:srgbClr val="9DB43B"/>
          </a:solidFill>
          <a:ln w="12700">
            <a:solidFill>
              <a:srgbClr val="9DB4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35808" y="2081632"/>
            <a:ext cx="502920" cy="140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90" b="1" dirty="0">
                <a:solidFill>
                  <a:srgbClr val="FFFFFF"/>
                </a:solidFill>
              </a:rPr>
              <a:t>2</a:t>
            </a:r>
            <a:endParaRPr lang="en-US" sz="990" dirty="0"/>
          </a:p>
        </p:txBody>
      </p:sp>
      <p:sp>
        <p:nvSpPr>
          <p:cNvPr id="16" name="Text 14"/>
          <p:cNvSpPr/>
          <p:nvPr/>
        </p:nvSpPr>
        <p:spPr>
          <a:xfrm>
            <a:off x="2642616" y="2606040"/>
            <a:ext cx="1289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Diagnostic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642616" y="2907792"/>
            <a:ext cx="1289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EAF2EB"/>
                </a:solidFill>
              </a:rPr>
              <a:t>Type • état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4087368" y="2267712"/>
            <a:ext cx="246888" cy="347472"/>
          </a:xfrm>
          <a:prstGeom prst="chevron">
            <a:avLst/>
          </a:prstGeom>
          <a:solidFill>
            <a:srgbClr val="6A8D6E">
              <a:alpha val="92000"/>
            </a:srgbClr>
          </a:solidFill>
          <a:ln w="12700">
            <a:solidFill>
              <a:srgbClr val="6A8D6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25696" y="1737360"/>
            <a:ext cx="1508760" cy="1463040"/>
          </a:xfrm>
          <a:prstGeom prst="roundRect">
            <a:avLst>
              <a:gd name="adj" fmla="val 3750"/>
            </a:avLst>
          </a:prstGeom>
          <a:solidFill>
            <a:srgbClr val="2C3D31"/>
          </a:solidFill>
          <a:ln w="12700">
            <a:solidFill>
              <a:srgbClr val="4B625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28616" y="1965960"/>
            <a:ext cx="502920" cy="502920"/>
          </a:xfrm>
          <a:prstGeom prst="ellipse">
            <a:avLst/>
          </a:prstGeom>
          <a:solidFill>
            <a:srgbClr val="9DB43B"/>
          </a:solidFill>
          <a:ln w="12700">
            <a:solidFill>
              <a:srgbClr val="9DB43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28616" y="2081632"/>
            <a:ext cx="502920" cy="140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90" b="1" dirty="0">
                <a:solidFill>
                  <a:srgbClr val="FFFFFF"/>
                </a:solidFill>
              </a:rPr>
              <a:t>3</a:t>
            </a:r>
            <a:endParaRPr lang="en-US" sz="990" dirty="0"/>
          </a:p>
        </p:txBody>
      </p:sp>
      <p:sp>
        <p:nvSpPr>
          <p:cNvPr id="22" name="Text 20"/>
          <p:cNvSpPr/>
          <p:nvPr/>
        </p:nvSpPr>
        <p:spPr>
          <a:xfrm>
            <a:off x="4535424" y="2606040"/>
            <a:ext cx="1289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Forfait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35424" y="2907792"/>
            <a:ext cx="1289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EAF2EB"/>
                </a:solidFill>
              </a:rPr>
              <a:t>Service • prix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5980176" y="2267712"/>
            <a:ext cx="246888" cy="347472"/>
          </a:xfrm>
          <a:prstGeom prst="chevron">
            <a:avLst/>
          </a:prstGeom>
          <a:solidFill>
            <a:srgbClr val="6A8D6E">
              <a:alpha val="92000"/>
            </a:srgbClr>
          </a:solidFill>
          <a:ln w="12700">
            <a:solidFill>
              <a:srgbClr val="6A8D6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18504" y="1737360"/>
            <a:ext cx="1508760" cy="1463040"/>
          </a:xfrm>
          <a:prstGeom prst="roundRect">
            <a:avLst>
              <a:gd name="adj" fmla="val 3750"/>
            </a:avLst>
          </a:prstGeom>
          <a:solidFill>
            <a:srgbClr val="2C3D31"/>
          </a:solidFill>
          <a:ln w="12700">
            <a:solidFill>
              <a:srgbClr val="4B625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21424" y="1965960"/>
            <a:ext cx="502920" cy="502920"/>
          </a:xfrm>
          <a:prstGeom prst="ellipse">
            <a:avLst/>
          </a:prstGeom>
          <a:solidFill>
            <a:srgbClr val="9DB43B"/>
          </a:solidFill>
          <a:ln w="12700">
            <a:solidFill>
              <a:srgbClr val="9DB43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21424" y="2081632"/>
            <a:ext cx="502920" cy="140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90" b="1" dirty="0">
                <a:solidFill>
                  <a:srgbClr val="FFFFFF"/>
                </a:solidFill>
              </a:rPr>
              <a:t>4</a:t>
            </a:r>
            <a:endParaRPr lang="en-US" sz="990" dirty="0"/>
          </a:p>
        </p:txBody>
      </p:sp>
      <p:sp>
        <p:nvSpPr>
          <p:cNvPr id="28" name="Text 26"/>
          <p:cNvSpPr/>
          <p:nvPr/>
        </p:nvSpPr>
        <p:spPr>
          <a:xfrm>
            <a:off x="6428232" y="2606040"/>
            <a:ext cx="1289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Traitement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28232" y="2907792"/>
            <a:ext cx="1289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EAF2EB"/>
                </a:solidFill>
              </a:rPr>
              <a:t>Poste • agent</a:t>
            </a:r>
            <a:endParaRPr lang="en-US" sz="920" dirty="0"/>
          </a:p>
        </p:txBody>
      </p:sp>
      <p:sp>
        <p:nvSpPr>
          <p:cNvPr id="30" name="Shape 28"/>
          <p:cNvSpPr/>
          <p:nvPr/>
        </p:nvSpPr>
        <p:spPr>
          <a:xfrm>
            <a:off x="7872984" y="2267712"/>
            <a:ext cx="246888" cy="347472"/>
          </a:xfrm>
          <a:prstGeom prst="chevron">
            <a:avLst/>
          </a:prstGeom>
          <a:solidFill>
            <a:srgbClr val="6A8D6E">
              <a:alpha val="92000"/>
            </a:srgbClr>
          </a:solidFill>
          <a:ln w="12700">
            <a:solidFill>
              <a:srgbClr val="6A8D6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11312" y="1737360"/>
            <a:ext cx="1508760" cy="1463040"/>
          </a:xfrm>
          <a:prstGeom prst="roundRect">
            <a:avLst>
              <a:gd name="adj" fmla="val 3750"/>
            </a:avLst>
          </a:prstGeom>
          <a:solidFill>
            <a:srgbClr val="2C3D31"/>
          </a:solidFill>
          <a:ln w="12700">
            <a:solidFill>
              <a:srgbClr val="4B625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714232" y="1965960"/>
            <a:ext cx="502920" cy="502920"/>
          </a:xfrm>
          <a:prstGeom prst="ellipse">
            <a:avLst/>
          </a:prstGeom>
          <a:solidFill>
            <a:srgbClr val="9DB43B"/>
          </a:solidFill>
          <a:ln w="12700">
            <a:solidFill>
              <a:srgbClr val="9DB43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714232" y="2081632"/>
            <a:ext cx="502920" cy="140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90" b="1" dirty="0">
                <a:solidFill>
                  <a:srgbClr val="FFFFFF"/>
                </a:solidFill>
              </a:rPr>
              <a:t>5</a:t>
            </a:r>
            <a:endParaRPr lang="en-US" sz="990" dirty="0"/>
          </a:p>
        </p:txBody>
      </p:sp>
      <p:sp>
        <p:nvSpPr>
          <p:cNvPr id="34" name="Text 32"/>
          <p:cNvSpPr/>
          <p:nvPr/>
        </p:nvSpPr>
        <p:spPr>
          <a:xfrm>
            <a:off x="8321040" y="2606040"/>
            <a:ext cx="1289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Contrôle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321040" y="2907792"/>
            <a:ext cx="1289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EAF2EB"/>
                </a:solidFill>
              </a:rPr>
              <a:t>Qualité • reprise</a:t>
            </a:r>
            <a:endParaRPr lang="en-US" sz="920" dirty="0"/>
          </a:p>
        </p:txBody>
      </p:sp>
      <p:sp>
        <p:nvSpPr>
          <p:cNvPr id="36" name="Shape 34"/>
          <p:cNvSpPr/>
          <p:nvPr/>
        </p:nvSpPr>
        <p:spPr>
          <a:xfrm>
            <a:off x="9765792" y="2267712"/>
            <a:ext cx="246888" cy="347472"/>
          </a:xfrm>
          <a:prstGeom prst="chevron">
            <a:avLst/>
          </a:prstGeom>
          <a:solidFill>
            <a:srgbClr val="6A8D6E">
              <a:alpha val="92000"/>
            </a:srgbClr>
          </a:solidFill>
          <a:ln w="12700">
            <a:solidFill>
              <a:srgbClr val="6A8D6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104120" y="1737360"/>
            <a:ext cx="1508760" cy="1463040"/>
          </a:xfrm>
          <a:prstGeom prst="roundRect">
            <a:avLst>
              <a:gd name="adj" fmla="val 3750"/>
            </a:avLst>
          </a:prstGeom>
          <a:solidFill>
            <a:srgbClr val="397443"/>
          </a:solidFill>
          <a:ln w="12700">
            <a:solidFill>
              <a:srgbClr val="39744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607040" y="1965960"/>
            <a:ext cx="502920" cy="502920"/>
          </a:xfrm>
          <a:prstGeom prst="ellipse">
            <a:avLst/>
          </a:prstGeom>
          <a:solidFill>
            <a:srgbClr val="E9D928"/>
          </a:solidFill>
          <a:ln w="12700">
            <a:solidFill>
              <a:srgbClr val="E9D92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607040" y="2081632"/>
            <a:ext cx="502920" cy="140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90" b="1" dirty="0">
                <a:solidFill>
                  <a:srgbClr val="FFFFFF"/>
                </a:solidFill>
              </a:rPr>
              <a:t>6</a:t>
            </a:r>
            <a:endParaRPr lang="en-US" sz="990" dirty="0"/>
          </a:p>
        </p:txBody>
      </p:sp>
      <p:sp>
        <p:nvSpPr>
          <p:cNvPr id="40" name="Text 38"/>
          <p:cNvSpPr/>
          <p:nvPr/>
        </p:nvSpPr>
        <p:spPr>
          <a:xfrm>
            <a:off x="10213848" y="2606040"/>
            <a:ext cx="1289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Paiement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0213848" y="2907792"/>
            <a:ext cx="1289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EAF2EB"/>
                </a:solidFill>
              </a:rPr>
              <a:t>Caisse • reçu</a:t>
            </a:r>
            <a:endParaRPr lang="en-US" sz="920" dirty="0"/>
          </a:p>
        </p:txBody>
      </p:sp>
      <p:sp>
        <p:nvSpPr>
          <p:cNvPr id="42" name="Shape 40"/>
          <p:cNvSpPr/>
          <p:nvPr/>
        </p:nvSpPr>
        <p:spPr>
          <a:xfrm>
            <a:off x="658368" y="365760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26372B"/>
          </a:solidFill>
          <a:ln w="10160">
            <a:solidFill>
              <a:srgbClr val="405545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859536" y="3858768"/>
            <a:ext cx="457200" cy="457200"/>
          </a:xfrm>
          <a:prstGeom prst="ellipse">
            <a:avLst/>
          </a:prstGeom>
          <a:solidFill>
            <a:srgbClr val="9DB43B"/>
          </a:solidFill>
          <a:ln w="12700">
            <a:solidFill>
              <a:srgbClr val="9DB43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59536" y="3963924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OF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444752" y="3867912"/>
            <a:ext cx="1618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Offres</a:t>
            </a:r>
            <a:endParaRPr lang="en-US" sz="1450" dirty="0"/>
          </a:p>
        </p:txBody>
      </p:sp>
      <p:sp>
        <p:nvSpPr>
          <p:cNvPr id="46" name="Text 44"/>
          <p:cNvSpPr/>
          <p:nvPr/>
        </p:nvSpPr>
        <p:spPr>
          <a:xfrm>
            <a:off x="877824" y="4279392"/>
            <a:ext cx="216712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EAF2EB"/>
                </a:solidFill>
              </a:rPr>
              <a:t>Lavage simple, complet, VIP, options et tarifs par catégorie de véhicule.</a:t>
            </a:r>
            <a:endParaRPr lang="en-US" sz="1070" dirty="0"/>
          </a:p>
        </p:txBody>
      </p:sp>
      <p:sp>
        <p:nvSpPr>
          <p:cNvPr id="47" name="Shape 45"/>
          <p:cNvSpPr/>
          <p:nvPr/>
        </p:nvSpPr>
        <p:spPr>
          <a:xfrm>
            <a:off x="3520440" y="365760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26372B"/>
          </a:solidFill>
          <a:ln w="10160">
            <a:solidFill>
              <a:srgbClr val="405545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3721608" y="3858768"/>
            <a:ext cx="457200" cy="457200"/>
          </a:xfrm>
          <a:prstGeom prst="ellipse">
            <a:avLst/>
          </a:prstGeom>
          <a:solidFill>
            <a:srgbClr val="397443"/>
          </a:solidFill>
          <a:ln w="12700">
            <a:solidFill>
              <a:srgbClr val="39744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721608" y="3963924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AB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306824" y="3867912"/>
            <a:ext cx="1618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Abonnements</a:t>
            </a:r>
            <a:endParaRPr lang="en-US" sz="1450" dirty="0"/>
          </a:p>
        </p:txBody>
      </p:sp>
      <p:sp>
        <p:nvSpPr>
          <p:cNvPr id="51" name="Text 49"/>
          <p:cNvSpPr/>
          <p:nvPr/>
        </p:nvSpPr>
        <p:spPr>
          <a:xfrm>
            <a:off x="3739896" y="4279392"/>
            <a:ext cx="216712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EAF2EB"/>
                </a:solidFill>
              </a:rPr>
              <a:t>Cartes prépayées, comptes entreprises, flotte et consommation par véhicule.</a:t>
            </a:r>
            <a:endParaRPr lang="en-US" sz="1070" dirty="0"/>
          </a:p>
        </p:txBody>
      </p:sp>
      <p:sp>
        <p:nvSpPr>
          <p:cNvPr id="52" name="Shape 50"/>
          <p:cNvSpPr/>
          <p:nvPr/>
        </p:nvSpPr>
        <p:spPr>
          <a:xfrm>
            <a:off x="6382512" y="365760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26372B"/>
          </a:solidFill>
          <a:ln w="10160">
            <a:solidFill>
              <a:srgbClr val="405545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6583680" y="3858768"/>
            <a:ext cx="457200" cy="457200"/>
          </a:xfrm>
          <a:prstGeom prst="ellipse">
            <a:avLst/>
          </a:prstGeom>
          <a:solidFill>
            <a:srgbClr val="9DB43B"/>
          </a:solidFill>
          <a:ln w="12700">
            <a:solidFill>
              <a:srgbClr val="9DB43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583680" y="3963924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OP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7168896" y="3867912"/>
            <a:ext cx="1618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Opérations</a:t>
            </a:r>
            <a:endParaRPr lang="en-US" sz="1450" dirty="0"/>
          </a:p>
        </p:txBody>
      </p:sp>
      <p:sp>
        <p:nvSpPr>
          <p:cNvPr id="56" name="Text 54"/>
          <p:cNvSpPr/>
          <p:nvPr/>
        </p:nvSpPr>
        <p:spPr>
          <a:xfrm>
            <a:off x="6601968" y="4279392"/>
            <a:ext cx="216712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EAF2EB"/>
                </a:solidFill>
              </a:rPr>
              <a:t>Files d’attente, affectation des postes, temps de cycle et productivité agents.</a:t>
            </a:r>
            <a:endParaRPr lang="en-US" sz="1070" dirty="0"/>
          </a:p>
        </p:txBody>
      </p:sp>
      <p:sp>
        <p:nvSpPr>
          <p:cNvPr id="57" name="Shape 55"/>
          <p:cNvSpPr/>
          <p:nvPr/>
        </p:nvSpPr>
        <p:spPr>
          <a:xfrm>
            <a:off x="9244584" y="365760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26372B"/>
          </a:solidFill>
          <a:ln w="10160">
            <a:solidFill>
              <a:srgbClr val="405545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9445752" y="3858768"/>
            <a:ext cx="457200" cy="457200"/>
          </a:xfrm>
          <a:prstGeom prst="ellipse">
            <a:avLst/>
          </a:prstGeom>
          <a:solidFill>
            <a:srgbClr val="397443"/>
          </a:solidFill>
          <a:ln w="12700">
            <a:solidFill>
              <a:srgbClr val="397443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445752" y="3963924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CQ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10030968" y="3867912"/>
            <a:ext cx="1618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Contrôle</a:t>
            </a:r>
            <a:endParaRPr lang="en-US" sz="1450" dirty="0"/>
          </a:p>
        </p:txBody>
      </p:sp>
      <p:sp>
        <p:nvSpPr>
          <p:cNvPr id="61" name="Text 59"/>
          <p:cNvSpPr/>
          <p:nvPr/>
        </p:nvSpPr>
        <p:spPr>
          <a:xfrm>
            <a:off x="9464040" y="4279392"/>
            <a:ext cx="216712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EAF2EB"/>
                </a:solidFill>
              </a:rPr>
              <a:t>Annulations, remises, consommables, écarts de caisse et incidents qualité.</a:t>
            </a:r>
            <a:endParaRPr lang="en-US" sz="1070" dirty="0"/>
          </a:p>
        </p:txBody>
      </p:sp>
      <p:sp>
        <p:nvSpPr>
          <p:cNvPr id="62" name="Text 60"/>
          <p:cNvSpPr/>
          <p:nvPr/>
        </p:nvSpPr>
        <p:spPr>
          <a:xfrm>
            <a:off x="822960" y="5852160"/>
            <a:ext cx="10561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E9D928"/>
                </a:solidFill>
              </a:rPr>
              <a:t>KPI : véhicules/jour • temps moyen • revenu/poste • consommables/véhicule • taux de reprise • écart de caisse</a:t>
            </a:r>
            <a:endParaRPr lang="en-US" sz="117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80" kern="0" dirty="0">
                <a:solidFill>
                  <a:srgbClr val="397443"/>
                </a:solidFill>
              </a:rPr>
              <a:t>TECHNIQUE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640080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51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Architecture cible, sécurité et continuité de service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03504" y="109728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159"/>
                </a:solidFill>
              </a:rPr>
              <a:t>Une application web responsive, centralisée, sécurisée et conçue pour évoluer par modules.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6510528"/>
            <a:ext cx="4846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7180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OFFRE ERP • OLIVE DANAROY • JUILLET 2026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155680" y="6473952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180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691640"/>
            <a:ext cx="6766560" cy="749808"/>
          </a:xfrm>
          <a:prstGeom prst="roundRect">
            <a:avLst>
              <a:gd name="adj" fmla="val 6098"/>
            </a:avLst>
          </a:prstGeom>
          <a:solidFill>
            <a:srgbClr val="234E2B"/>
          </a:solidFill>
          <a:ln w="12700">
            <a:solidFill>
              <a:srgbClr val="234E2B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24128" y="185623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</a:rPr>
              <a:t>UTILISATEURS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246120" y="1865376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</a:rPr>
              <a:t>Direction • Finance • Ventes • Chantiers • Restaurant • Caisses • Mobile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932688" y="2715768"/>
            <a:ext cx="6364224" cy="749808"/>
          </a:xfrm>
          <a:prstGeom prst="roundRect">
            <a:avLst>
              <a:gd name="adj" fmla="val 6098"/>
            </a:avLst>
          </a:prstGeom>
          <a:solidFill>
            <a:srgbClr val="397443"/>
          </a:solidFill>
          <a:ln w="12700">
            <a:solidFill>
              <a:srgbClr val="397443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225296" y="288036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</a:rPr>
              <a:t>APPLICATION ERP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246120" y="2889504"/>
            <a:ext cx="3145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</a:rPr>
              <a:t>Modules métiers • workflows • notifications • tableaux de bord • portail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1133856" y="3739896"/>
            <a:ext cx="5961888" cy="749808"/>
          </a:xfrm>
          <a:prstGeom prst="roundRect">
            <a:avLst>
              <a:gd name="adj" fmla="val 6098"/>
            </a:avLst>
          </a:prstGeom>
          <a:solidFill>
            <a:srgbClr val="9DB43B"/>
          </a:solidFill>
          <a:ln w="12700">
            <a:solidFill>
              <a:srgbClr val="9DB43B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426464" y="390448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7251C"/>
                </a:solidFill>
              </a:rPr>
              <a:t>SERVICES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246120" y="3913632"/>
            <a:ext cx="2907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7251C"/>
                </a:solidFill>
              </a:rPr>
              <a:t>API • génération PDF • e-mail/SMS • paiements • import/export • journal d’audit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1335024" y="4764024"/>
            <a:ext cx="5559552" cy="749808"/>
          </a:xfrm>
          <a:prstGeom prst="roundRect">
            <a:avLst>
              <a:gd name="adj" fmla="val 6098"/>
            </a:avLst>
          </a:prstGeom>
          <a:solidFill>
            <a:srgbClr val="17251C"/>
          </a:solidFill>
          <a:ln w="12700">
            <a:solidFill>
              <a:srgbClr val="17251C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627632" y="492861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</a:rPr>
              <a:t>DONNÉES &amp; CLOUD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246120" y="4937760"/>
            <a:ext cx="2670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</a:rPr>
              <a:t>Base centralisée • chiffrement • sauvegardes • supervision • reprise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7818120" y="1600200"/>
            <a:ext cx="3657600" cy="950976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0160">
            <a:solidFill>
              <a:srgbClr val="D8E3D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19288" y="1801368"/>
            <a:ext cx="384048" cy="384048"/>
          </a:xfrm>
          <a:prstGeom prst="ellipse">
            <a:avLst/>
          </a:prstGeom>
          <a:solidFill>
            <a:srgbClr val="234E2B"/>
          </a:solidFill>
          <a:ln w="12700">
            <a:solidFill>
              <a:srgbClr val="234E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19288" y="1889699"/>
            <a:ext cx="384048" cy="1075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dirty="0">
                <a:solidFill>
                  <a:srgbClr val="FFFFFF"/>
                </a:solidFill>
              </a:rPr>
              <a:t>1</a:t>
            </a:r>
            <a:endParaRPr lang="en-US" sz="756" dirty="0"/>
          </a:p>
        </p:txBody>
      </p:sp>
      <p:sp>
        <p:nvSpPr>
          <p:cNvPr id="22" name="Text 20"/>
          <p:cNvSpPr/>
          <p:nvPr/>
        </p:nvSpPr>
        <p:spPr>
          <a:xfrm>
            <a:off x="8604504" y="1810512"/>
            <a:ext cx="2670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251C"/>
                </a:solidFill>
              </a:rPr>
              <a:t>Accès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037576" y="2221992"/>
            <a:ext cx="32186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526159"/>
                </a:solidFill>
              </a:rPr>
              <a:t>Profils, rôles, double authentification optionnelle, verrouillage et sessions.</a:t>
            </a:r>
            <a:endParaRPr lang="en-US" sz="960" dirty="0"/>
          </a:p>
        </p:txBody>
      </p:sp>
      <p:sp>
        <p:nvSpPr>
          <p:cNvPr id="24" name="Shape 22"/>
          <p:cNvSpPr/>
          <p:nvPr/>
        </p:nvSpPr>
        <p:spPr>
          <a:xfrm>
            <a:off x="7818120" y="2679192"/>
            <a:ext cx="3657600" cy="950976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0160">
            <a:solidFill>
              <a:srgbClr val="D8E3D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19288" y="2880360"/>
            <a:ext cx="384048" cy="384048"/>
          </a:xfrm>
          <a:prstGeom prst="ellipse">
            <a:avLst/>
          </a:prstGeom>
          <a:solidFill>
            <a:srgbClr val="397443"/>
          </a:solidFill>
          <a:ln w="12700">
            <a:solidFill>
              <a:srgbClr val="39744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19288" y="2968691"/>
            <a:ext cx="384048" cy="1075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dirty="0">
                <a:solidFill>
                  <a:srgbClr val="FFFFFF"/>
                </a:solidFill>
              </a:rPr>
              <a:t>2</a:t>
            </a:r>
            <a:endParaRPr lang="en-US" sz="756" dirty="0"/>
          </a:p>
        </p:txBody>
      </p:sp>
      <p:sp>
        <p:nvSpPr>
          <p:cNvPr id="27" name="Text 25"/>
          <p:cNvSpPr/>
          <p:nvPr/>
        </p:nvSpPr>
        <p:spPr>
          <a:xfrm>
            <a:off x="8604504" y="2889504"/>
            <a:ext cx="2670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251C"/>
                </a:solidFill>
              </a:rPr>
              <a:t>Protection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037576" y="3300984"/>
            <a:ext cx="32186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526159"/>
                </a:solidFill>
              </a:rPr>
              <a:t>HTTPS, chiffrement des secrets, séparation des environnements et mises à jour.</a:t>
            </a:r>
            <a:endParaRPr lang="en-US" sz="960" dirty="0"/>
          </a:p>
        </p:txBody>
      </p:sp>
      <p:sp>
        <p:nvSpPr>
          <p:cNvPr id="29" name="Shape 27"/>
          <p:cNvSpPr/>
          <p:nvPr/>
        </p:nvSpPr>
        <p:spPr>
          <a:xfrm>
            <a:off x="7818120" y="3758184"/>
            <a:ext cx="3657600" cy="950976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0160">
            <a:solidFill>
              <a:srgbClr val="D8E3D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19288" y="3959352"/>
            <a:ext cx="384048" cy="384048"/>
          </a:xfrm>
          <a:prstGeom prst="ellipse">
            <a:avLst/>
          </a:prstGeom>
          <a:solidFill>
            <a:srgbClr val="234E2B"/>
          </a:solidFill>
          <a:ln w="12700">
            <a:solidFill>
              <a:srgbClr val="234E2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019288" y="4047683"/>
            <a:ext cx="384048" cy="1075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dirty="0">
                <a:solidFill>
                  <a:srgbClr val="FFFFFF"/>
                </a:solidFill>
              </a:rPr>
              <a:t>3</a:t>
            </a:r>
            <a:endParaRPr lang="en-US" sz="756" dirty="0"/>
          </a:p>
        </p:txBody>
      </p:sp>
      <p:sp>
        <p:nvSpPr>
          <p:cNvPr id="32" name="Text 30"/>
          <p:cNvSpPr/>
          <p:nvPr/>
        </p:nvSpPr>
        <p:spPr>
          <a:xfrm>
            <a:off x="8604504" y="3968496"/>
            <a:ext cx="2670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251C"/>
                </a:solidFill>
              </a:rPr>
              <a:t>Sauvegardes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8037576" y="4379976"/>
            <a:ext cx="32186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526159"/>
                </a:solidFill>
              </a:rPr>
              <a:t>Quotidiennes, rétention définie, restauration testée et copie externalisée.</a:t>
            </a:r>
            <a:endParaRPr lang="en-US" sz="960" dirty="0"/>
          </a:p>
        </p:txBody>
      </p:sp>
      <p:sp>
        <p:nvSpPr>
          <p:cNvPr id="34" name="Shape 32"/>
          <p:cNvSpPr/>
          <p:nvPr/>
        </p:nvSpPr>
        <p:spPr>
          <a:xfrm>
            <a:off x="7818120" y="4837176"/>
            <a:ext cx="3657600" cy="950976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0160">
            <a:solidFill>
              <a:srgbClr val="D8E3D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019288" y="5038344"/>
            <a:ext cx="384048" cy="384048"/>
          </a:xfrm>
          <a:prstGeom prst="ellipse">
            <a:avLst/>
          </a:prstGeom>
          <a:solidFill>
            <a:srgbClr val="397443"/>
          </a:solidFill>
          <a:ln w="12700">
            <a:solidFill>
              <a:srgbClr val="39744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019288" y="5126675"/>
            <a:ext cx="384048" cy="1075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dirty="0">
                <a:solidFill>
                  <a:srgbClr val="FFFFFF"/>
                </a:solidFill>
              </a:rPr>
              <a:t>4</a:t>
            </a:r>
            <a:endParaRPr lang="en-US" sz="756" dirty="0"/>
          </a:p>
        </p:txBody>
      </p:sp>
      <p:sp>
        <p:nvSpPr>
          <p:cNvPr id="37" name="Text 35"/>
          <p:cNvSpPr/>
          <p:nvPr/>
        </p:nvSpPr>
        <p:spPr>
          <a:xfrm>
            <a:off x="8604504" y="5047488"/>
            <a:ext cx="2670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251C"/>
                </a:solidFill>
              </a:rPr>
              <a:t>Traçabilité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8037576" y="5458968"/>
            <a:ext cx="32186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526159"/>
                </a:solidFill>
              </a:rPr>
              <a:t>Journal des connexions, validations, modifications sensibles et exports.</a:t>
            </a:r>
            <a:endParaRPr lang="en-US" sz="960" dirty="0"/>
          </a:p>
        </p:txBody>
      </p:sp>
      <p:sp>
        <p:nvSpPr>
          <p:cNvPr id="39" name="Shape 37"/>
          <p:cNvSpPr/>
          <p:nvPr/>
        </p:nvSpPr>
        <p:spPr>
          <a:xfrm>
            <a:off x="731520" y="5961888"/>
            <a:ext cx="10744200" cy="256032"/>
          </a:xfrm>
          <a:prstGeom prst="roundRect">
            <a:avLst>
              <a:gd name="adj" fmla="val 14286"/>
            </a:avLst>
          </a:prstGeom>
          <a:solidFill>
            <a:srgbClr val="E6EFE7"/>
          </a:solidFill>
          <a:ln w="12700">
            <a:solidFill>
              <a:srgbClr val="E6EFE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60120" y="6035040"/>
            <a:ext cx="10287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526159"/>
                </a:solidFill>
              </a:rPr>
              <a:t>Disponibilité cible à confirmer au cadrage • reprise selon l’offre cloud • conservation des données à valider par le client</a:t>
            </a:r>
            <a:endParaRPr lang="en-US" sz="9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80" kern="0" dirty="0">
                <a:solidFill>
                  <a:srgbClr val="397443"/>
                </a:solidFill>
              </a:rPr>
              <a:t>PILOTAGE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640080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51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 indicateurs communs et des tableaux de bord métier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03504" y="109728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159"/>
                </a:solidFill>
              </a:rPr>
              <a:t>La direction dispose d’une vue consolidée, puis peut descendre jusqu’à la transaction source.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6510528"/>
            <a:ext cx="4846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7180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OFFRE ERP • OLIVE DANAROY • JUILLET 2026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155680" y="6473952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180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58368" y="1609344"/>
            <a:ext cx="2596896" cy="1207008"/>
          </a:xfrm>
          <a:prstGeom prst="roundRect">
            <a:avLst>
              <a:gd name="adj" fmla="val 4545"/>
            </a:avLst>
          </a:prstGeom>
          <a:solidFill>
            <a:srgbClr val="234E2B"/>
          </a:solidFill>
          <a:ln w="12700">
            <a:solidFill>
              <a:srgbClr val="234E2B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59536" y="184708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</a:rPr>
              <a:t>12,4 M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859536" y="228600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9D928"/>
                </a:solidFill>
              </a:rPr>
              <a:t>Chiffre d’affaires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59536" y="2514600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EAF2EB"/>
                </a:solidFill>
              </a:rPr>
              <a:t>par activité, site et période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3511296" y="1609344"/>
            <a:ext cx="2596896" cy="1207008"/>
          </a:xfrm>
          <a:prstGeom prst="roundRect">
            <a:avLst>
              <a:gd name="adj" fmla="val 4545"/>
            </a:avLst>
          </a:prstGeom>
          <a:solidFill>
            <a:srgbClr val="F3F7F3"/>
          </a:solidFill>
          <a:ln w="12700">
            <a:solidFill>
              <a:srgbClr val="D8E3D9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712464" y="184708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34E2B"/>
                </a:solidFill>
              </a:rPr>
              <a:t>31,8 %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3712464" y="228600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251C"/>
                </a:solidFill>
              </a:rPr>
              <a:t>Marge brute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712464" y="2514600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26159"/>
                </a:solidFill>
              </a:rPr>
              <a:t>réelle vs objectif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6364224" y="1609344"/>
            <a:ext cx="2596896" cy="1207008"/>
          </a:xfrm>
          <a:prstGeom prst="roundRect">
            <a:avLst>
              <a:gd name="adj" fmla="val 4545"/>
            </a:avLst>
          </a:prstGeom>
          <a:solidFill>
            <a:srgbClr val="F3F7F3"/>
          </a:solidFill>
          <a:ln w="12700">
            <a:solidFill>
              <a:srgbClr val="D8E3D9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65392" y="184708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34E2B"/>
                </a:solidFill>
              </a:rPr>
              <a:t>8,7 M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6565392" y="228600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251C"/>
                </a:solidFill>
              </a:rPr>
              <a:t>Trésorerie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565392" y="2514600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26159"/>
                </a:solidFill>
              </a:rPr>
              <a:t>disponible et prévisionnelle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9217152" y="1609344"/>
            <a:ext cx="2596896" cy="1207008"/>
          </a:xfrm>
          <a:prstGeom prst="roundRect">
            <a:avLst>
              <a:gd name="adj" fmla="val 4545"/>
            </a:avLst>
          </a:prstGeom>
          <a:solidFill>
            <a:srgbClr val="F3F7F3"/>
          </a:solidFill>
          <a:ln w="12700">
            <a:solidFill>
              <a:srgbClr val="D8E3D9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418320" y="184708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34E2B"/>
                </a:solidFill>
              </a:rPr>
              <a:t>3,1 M</a:t>
            </a:r>
            <a:endParaRPr lang="en-US" sz="2300" dirty="0"/>
          </a:p>
        </p:txBody>
      </p:sp>
      <p:sp>
        <p:nvSpPr>
          <p:cNvPr id="21" name="Text 19"/>
          <p:cNvSpPr/>
          <p:nvPr/>
        </p:nvSpPr>
        <p:spPr>
          <a:xfrm>
            <a:off x="9418320" y="228600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251C"/>
                </a:solidFill>
              </a:rPr>
              <a:t>Créances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418320" y="2514600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26159"/>
                </a:solidFill>
              </a:rPr>
              <a:t>échues et à relancer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658368" y="3246120"/>
            <a:ext cx="3493008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0160">
            <a:solidFill>
              <a:srgbClr val="D8E3D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9536" y="3447288"/>
            <a:ext cx="384048" cy="384048"/>
          </a:xfrm>
          <a:prstGeom prst="ellipse">
            <a:avLst/>
          </a:prstGeom>
          <a:solidFill>
            <a:srgbClr val="234E2B"/>
          </a:solidFill>
          <a:ln w="12700">
            <a:solidFill>
              <a:srgbClr val="234E2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9536" y="3535619"/>
            <a:ext cx="384048" cy="1075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dirty="0">
                <a:solidFill>
                  <a:srgbClr val="FFFFFF"/>
                </a:solidFill>
              </a:rPr>
              <a:t>BT</a:t>
            </a:r>
            <a:endParaRPr lang="en-US" sz="756" dirty="0"/>
          </a:p>
        </p:txBody>
      </p:sp>
      <p:sp>
        <p:nvSpPr>
          <p:cNvPr id="26" name="Text 24"/>
          <p:cNvSpPr/>
          <p:nvPr/>
        </p:nvSpPr>
        <p:spPr>
          <a:xfrm>
            <a:off x="1444752" y="3456432"/>
            <a:ext cx="2505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17251C"/>
                </a:solidFill>
              </a:rPr>
              <a:t>BTP</a:t>
            </a:r>
            <a:endParaRPr lang="en-US" sz="1280" dirty="0"/>
          </a:p>
        </p:txBody>
      </p:sp>
      <p:sp>
        <p:nvSpPr>
          <p:cNvPr id="27" name="Text 25"/>
          <p:cNvSpPr/>
          <p:nvPr/>
        </p:nvSpPr>
        <p:spPr>
          <a:xfrm>
            <a:off x="877824" y="3867912"/>
            <a:ext cx="30540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26159"/>
                </a:solidFill>
              </a:rPr>
              <a:t>Avancement • engagé • coût réel • marge • retards</a:t>
            </a:r>
            <a:endParaRPr lang="en-US" sz="980" dirty="0"/>
          </a:p>
        </p:txBody>
      </p:sp>
      <p:sp>
        <p:nvSpPr>
          <p:cNvPr id="28" name="Shape 26"/>
          <p:cNvSpPr/>
          <p:nvPr/>
        </p:nvSpPr>
        <p:spPr>
          <a:xfrm>
            <a:off x="4453128" y="3246120"/>
            <a:ext cx="3493008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0160">
            <a:solidFill>
              <a:srgbClr val="D8E3D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54296" y="3447288"/>
            <a:ext cx="384048" cy="384048"/>
          </a:xfrm>
          <a:prstGeom prst="ellipse">
            <a:avLst/>
          </a:prstGeom>
          <a:solidFill>
            <a:srgbClr val="234E2B"/>
          </a:solidFill>
          <a:ln w="12700">
            <a:solidFill>
              <a:srgbClr val="234E2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54296" y="3535619"/>
            <a:ext cx="384048" cy="1075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dirty="0">
                <a:solidFill>
                  <a:srgbClr val="FFFFFF"/>
                </a:solidFill>
              </a:rPr>
              <a:t>RE</a:t>
            </a:r>
            <a:endParaRPr lang="en-US" sz="756" dirty="0"/>
          </a:p>
        </p:txBody>
      </p:sp>
      <p:sp>
        <p:nvSpPr>
          <p:cNvPr id="31" name="Text 29"/>
          <p:cNvSpPr/>
          <p:nvPr/>
        </p:nvSpPr>
        <p:spPr>
          <a:xfrm>
            <a:off x="5239512" y="3456432"/>
            <a:ext cx="2505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17251C"/>
                </a:solidFill>
              </a:rPr>
              <a:t>Restaurant</a:t>
            </a:r>
            <a:endParaRPr lang="en-US" sz="1280" dirty="0"/>
          </a:p>
        </p:txBody>
      </p:sp>
      <p:sp>
        <p:nvSpPr>
          <p:cNvPr id="32" name="Text 30"/>
          <p:cNvSpPr/>
          <p:nvPr/>
        </p:nvSpPr>
        <p:spPr>
          <a:xfrm>
            <a:off x="4672584" y="3867912"/>
            <a:ext cx="30540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26159"/>
                </a:solidFill>
              </a:rPr>
              <a:t>Ticket moyen • coût matière • pertes • marge/plat</a:t>
            </a:r>
            <a:endParaRPr lang="en-US" sz="980" dirty="0"/>
          </a:p>
        </p:txBody>
      </p:sp>
      <p:sp>
        <p:nvSpPr>
          <p:cNvPr id="33" name="Shape 31"/>
          <p:cNvSpPr/>
          <p:nvPr/>
        </p:nvSpPr>
        <p:spPr>
          <a:xfrm>
            <a:off x="8247888" y="3246120"/>
            <a:ext cx="3493008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0160">
            <a:solidFill>
              <a:srgbClr val="D8E3D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449056" y="3447288"/>
            <a:ext cx="384048" cy="384048"/>
          </a:xfrm>
          <a:prstGeom prst="ellipse">
            <a:avLst/>
          </a:prstGeom>
          <a:solidFill>
            <a:srgbClr val="234E2B"/>
          </a:solidFill>
          <a:ln w="12700">
            <a:solidFill>
              <a:srgbClr val="234E2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449056" y="3535619"/>
            <a:ext cx="384048" cy="1075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dirty="0">
                <a:solidFill>
                  <a:srgbClr val="FFFFFF"/>
                </a:solidFill>
              </a:rPr>
              <a:t>SA</a:t>
            </a:r>
            <a:endParaRPr lang="en-US" sz="756" dirty="0"/>
          </a:p>
        </p:txBody>
      </p:sp>
      <p:sp>
        <p:nvSpPr>
          <p:cNvPr id="36" name="Text 34"/>
          <p:cNvSpPr/>
          <p:nvPr/>
        </p:nvSpPr>
        <p:spPr>
          <a:xfrm>
            <a:off x="9034272" y="3456432"/>
            <a:ext cx="2505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17251C"/>
                </a:solidFill>
              </a:rPr>
              <a:t>Salles</a:t>
            </a:r>
            <a:endParaRPr lang="en-US" sz="1280" dirty="0"/>
          </a:p>
        </p:txBody>
      </p:sp>
      <p:sp>
        <p:nvSpPr>
          <p:cNvPr id="37" name="Text 35"/>
          <p:cNvSpPr/>
          <p:nvPr/>
        </p:nvSpPr>
        <p:spPr>
          <a:xfrm>
            <a:off x="8467344" y="3867912"/>
            <a:ext cx="30540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26159"/>
                </a:solidFill>
              </a:rPr>
              <a:t>Taux d’occupation • CA futur • acomptes • impayés</a:t>
            </a:r>
            <a:endParaRPr lang="en-US" sz="980" dirty="0"/>
          </a:p>
        </p:txBody>
      </p:sp>
      <p:sp>
        <p:nvSpPr>
          <p:cNvPr id="38" name="Shape 36"/>
          <p:cNvSpPr/>
          <p:nvPr/>
        </p:nvSpPr>
        <p:spPr>
          <a:xfrm>
            <a:off x="658368" y="4572000"/>
            <a:ext cx="3493008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0160">
            <a:solidFill>
              <a:srgbClr val="D8E3D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59536" y="4773168"/>
            <a:ext cx="384048" cy="384048"/>
          </a:xfrm>
          <a:prstGeom prst="ellipse">
            <a:avLst/>
          </a:prstGeom>
          <a:solidFill>
            <a:srgbClr val="397443"/>
          </a:solidFill>
          <a:ln w="12700">
            <a:solidFill>
              <a:srgbClr val="39744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59536" y="4861499"/>
            <a:ext cx="384048" cy="1075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dirty="0">
                <a:solidFill>
                  <a:srgbClr val="FFFFFF"/>
                </a:solidFill>
              </a:rPr>
              <a:t>LA</a:t>
            </a:r>
            <a:endParaRPr lang="en-US" sz="756" dirty="0"/>
          </a:p>
        </p:txBody>
      </p:sp>
      <p:sp>
        <p:nvSpPr>
          <p:cNvPr id="41" name="Text 39"/>
          <p:cNvSpPr/>
          <p:nvPr/>
        </p:nvSpPr>
        <p:spPr>
          <a:xfrm>
            <a:off x="1444752" y="4782312"/>
            <a:ext cx="2505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17251C"/>
                </a:solidFill>
              </a:rPr>
              <a:t>Lavage</a:t>
            </a:r>
            <a:endParaRPr lang="en-US" sz="1280" dirty="0"/>
          </a:p>
        </p:txBody>
      </p:sp>
      <p:sp>
        <p:nvSpPr>
          <p:cNvPr id="42" name="Text 40"/>
          <p:cNvSpPr/>
          <p:nvPr/>
        </p:nvSpPr>
        <p:spPr>
          <a:xfrm>
            <a:off x="877824" y="5193792"/>
            <a:ext cx="30540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26159"/>
                </a:solidFill>
              </a:rPr>
              <a:t>Véhicules/jour • temps cycle • revenu/poste • reprises</a:t>
            </a:r>
            <a:endParaRPr lang="en-US" sz="980" dirty="0"/>
          </a:p>
        </p:txBody>
      </p:sp>
      <p:sp>
        <p:nvSpPr>
          <p:cNvPr id="43" name="Shape 41"/>
          <p:cNvSpPr/>
          <p:nvPr/>
        </p:nvSpPr>
        <p:spPr>
          <a:xfrm>
            <a:off x="4453128" y="4572000"/>
            <a:ext cx="3493008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0160">
            <a:solidFill>
              <a:srgbClr val="D8E3D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654296" y="4773168"/>
            <a:ext cx="384048" cy="384048"/>
          </a:xfrm>
          <a:prstGeom prst="ellipse">
            <a:avLst/>
          </a:prstGeom>
          <a:solidFill>
            <a:srgbClr val="397443"/>
          </a:solidFill>
          <a:ln w="12700">
            <a:solidFill>
              <a:srgbClr val="39744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654296" y="4861499"/>
            <a:ext cx="384048" cy="1075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dirty="0">
                <a:solidFill>
                  <a:srgbClr val="FFFFFF"/>
                </a:solidFill>
              </a:rPr>
              <a:t>TR</a:t>
            </a:r>
            <a:endParaRPr lang="en-US" sz="756" dirty="0"/>
          </a:p>
        </p:txBody>
      </p:sp>
      <p:sp>
        <p:nvSpPr>
          <p:cNvPr id="46" name="Text 44"/>
          <p:cNvSpPr/>
          <p:nvPr/>
        </p:nvSpPr>
        <p:spPr>
          <a:xfrm>
            <a:off x="5239512" y="4782312"/>
            <a:ext cx="2505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17251C"/>
                </a:solidFill>
              </a:rPr>
              <a:t>Transport</a:t>
            </a:r>
            <a:endParaRPr lang="en-US" sz="1280" dirty="0"/>
          </a:p>
        </p:txBody>
      </p:sp>
      <p:sp>
        <p:nvSpPr>
          <p:cNvPr id="47" name="Text 45"/>
          <p:cNvSpPr/>
          <p:nvPr/>
        </p:nvSpPr>
        <p:spPr>
          <a:xfrm>
            <a:off x="4672584" y="5193792"/>
            <a:ext cx="30540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26159"/>
                </a:solidFill>
              </a:rPr>
              <a:t>Coût/km • disponibilité • carburant • marge/trajet</a:t>
            </a:r>
            <a:endParaRPr lang="en-US" sz="980" dirty="0"/>
          </a:p>
        </p:txBody>
      </p:sp>
      <p:sp>
        <p:nvSpPr>
          <p:cNvPr id="48" name="Shape 46"/>
          <p:cNvSpPr/>
          <p:nvPr/>
        </p:nvSpPr>
        <p:spPr>
          <a:xfrm>
            <a:off x="8247888" y="4572000"/>
            <a:ext cx="3493008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0160">
            <a:solidFill>
              <a:srgbClr val="D8E3D9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449056" y="4773168"/>
            <a:ext cx="384048" cy="384048"/>
          </a:xfrm>
          <a:prstGeom prst="ellipse">
            <a:avLst/>
          </a:prstGeom>
          <a:solidFill>
            <a:srgbClr val="397443"/>
          </a:solidFill>
          <a:ln w="12700">
            <a:solidFill>
              <a:srgbClr val="39744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449056" y="4861499"/>
            <a:ext cx="384048" cy="1075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dirty="0">
                <a:solidFill>
                  <a:srgbClr val="FFFFFF"/>
                </a:solidFill>
              </a:rPr>
              <a:t>CO</a:t>
            </a:r>
            <a:endParaRPr lang="en-US" sz="756" dirty="0"/>
          </a:p>
        </p:txBody>
      </p:sp>
      <p:sp>
        <p:nvSpPr>
          <p:cNvPr id="51" name="Text 49"/>
          <p:cNvSpPr/>
          <p:nvPr/>
        </p:nvSpPr>
        <p:spPr>
          <a:xfrm>
            <a:off x="9034272" y="4782312"/>
            <a:ext cx="2505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17251C"/>
                </a:solidFill>
              </a:rPr>
              <a:t>Commerce</a:t>
            </a:r>
            <a:endParaRPr lang="en-US" sz="1280" dirty="0"/>
          </a:p>
        </p:txBody>
      </p:sp>
      <p:sp>
        <p:nvSpPr>
          <p:cNvPr id="52" name="Text 50"/>
          <p:cNvSpPr/>
          <p:nvPr/>
        </p:nvSpPr>
        <p:spPr>
          <a:xfrm>
            <a:off x="8467344" y="5193792"/>
            <a:ext cx="30540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26159"/>
                </a:solidFill>
              </a:rPr>
              <a:t>Pipeline • conversion • marge/article • rotation stock</a:t>
            </a:r>
            <a:endParaRPr lang="en-US" sz="980" dirty="0"/>
          </a:p>
        </p:txBody>
      </p:sp>
      <p:sp>
        <p:nvSpPr>
          <p:cNvPr id="53" name="Text 51"/>
          <p:cNvSpPr/>
          <p:nvPr/>
        </p:nvSpPr>
        <p:spPr>
          <a:xfrm>
            <a:off x="685800" y="6016752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i="1" dirty="0">
                <a:solidFill>
                  <a:srgbClr val="526159"/>
                </a:solidFill>
              </a:rPr>
              <a:t>Les chiffres ci-dessus sont uniquement des illustrations de tableau de bord.</a:t>
            </a:r>
            <a:endParaRPr lang="en-US" sz="92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80" kern="0" dirty="0">
                <a:solidFill>
                  <a:srgbClr val="397443"/>
                </a:solidFill>
              </a:rPr>
              <a:t>MÉTHODE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640080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51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Planning de réalisation — 24 semaines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03504" y="109728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159"/>
                </a:solidFill>
              </a:rPr>
              <a:t>Livraison incrémentale, démonstration toutes les deux semaines et validation par jalons.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6510528"/>
            <a:ext cx="4846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7180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OFFRE ERP • OLIVE DANAROY • JUILLET 2026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155680" y="6473952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180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58368" y="1737360"/>
            <a:ext cx="1280160" cy="1051560"/>
          </a:xfrm>
          <a:prstGeom prst="roundRect">
            <a:avLst>
              <a:gd name="adj" fmla="val 3478"/>
            </a:avLst>
          </a:prstGeom>
          <a:solidFill>
            <a:srgbClr val="234E2B"/>
          </a:solidFill>
          <a:ln w="12700">
            <a:solidFill>
              <a:srgbClr val="234E2B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68096" y="190195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68096" y="2176272"/>
            <a:ext cx="1060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Cadrage &amp; blueprint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68096" y="2514600"/>
            <a:ext cx="1060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EAF2EB"/>
                </a:solidFill>
              </a:rPr>
              <a:t>S1–S3</a:t>
            </a:r>
            <a:endParaRPr lang="en-US" sz="870" dirty="0"/>
          </a:p>
        </p:txBody>
      </p:sp>
      <p:sp>
        <p:nvSpPr>
          <p:cNvPr id="11" name="Shape 9"/>
          <p:cNvSpPr/>
          <p:nvPr/>
        </p:nvSpPr>
        <p:spPr>
          <a:xfrm>
            <a:off x="2084832" y="1737360"/>
            <a:ext cx="1280160" cy="1051560"/>
          </a:xfrm>
          <a:prstGeom prst="roundRect">
            <a:avLst>
              <a:gd name="adj" fmla="val 3478"/>
            </a:avLst>
          </a:prstGeom>
          <a:solidFill>
            <a:srgbClr val="397443"/>
          </a:solidFill>
          <a:ln w="12700">
            <a:solidFill>
              <a:srgbClr val="397443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194560" y="190195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194560" y="2176272"/>
            <a:ext cx="1060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UX, prototype &amp; architecture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194560" y="2514600"/>
            <a:ext cx="1060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EAF2EB"/>
                </a:solidFill>
              </a:rPr>
              <a:t>S4–S6</a:t>
            </a:r>
            <a:endParaRPr lang="en-US" sz="870" dirty="0"/>
          </a:p>
        </p:txBody>
      </p:sp>
      <p:sp>
        <p:nvSpPr>
          <p:cNvPr id="15" name="Shape 13"/>
          <p:cNvSpPr/>
          <p:nvPr/>
        </p:nvSpPr>
        <p:spPr>
          <a:xfrm>
            <a:off x="3511296" y="1737360"/>
            <a:ext cx="2423160" cy="1051560"/>
          </a:xfrm>
          <a:prstGeom prst="roundRect">
            <a:avLst>
              <a:gd name="adj" fmla="val 3478"/>
            </a:avLst>
          </a:prstGeom>
          <a:solidFill>
            <a:srgbClr val="9DB43B"/>
          </a:solidFill>
          <a:ln w="12700">
            <a:solidFill>
              <a:srgbClr val="9DB43B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190195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51C"/>
                </a:solidFill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21024" y="2176272"/>
            <a:ext cx="2203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7251C"/>
                </a:solidFill>
              </a:rPr>
              <a:t>Socle ERP &amp; BTP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621024" y="2514600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17251C"/>
                </a:solidFill>
              </a:rPr>
              <a:t>S7–S12</a:t>
            </a:r>
            <a:endParaRPr lang="en-US" sz="870" dirty="0"/>
          </a:p>
        </p:txBody>
      </p:sp>
      <p:sp>
        <p:nvSpPr>
          <p:cNvPr id="19" name="Shape 17"/>
          <p:cNvSpPr/>
          <p:nvPr/>
        </p:nvSpPr>
        <p:spPr>
          <a:xfrm>
            <a:off x="6080760" y="1737360"/>
            <a:ext cx="2057400" cy="1051560"/>
          </a:xfrm>
          <a:prstGeom prst="roundRect">
            <a:avLst>
              <a:gd name="adj" fmla="val 3478"/>
            </a:avLst>
          </a:prstGeom>
          <a:solidFill>
            <a:srgbClr val="234E2B"/>
          </a:solidFill>
          <a:ln w="12700">
            <a:solidFill>
              <a:srgbClr val="234E2B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190488" y="190195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190488" y="2176272"/>
            <a:ext cx="1837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Modules métiers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190488" y="2514600"/>
            <a:ext cx="18379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EAF2EB"/>
                </a:solidFill>
              </a:rPr>
              <a:t>S13–S17</a:t>
            </a:r>
            <a:endParaRPr lang="en-US" sz="870" dirty="0"/>
          </a:p>
        </p:txBody>
      </p:sp>
      <p:sp>
        <p:nvSpPr>
          <p:cNvPr id="23" name="Shape 21"/>
          <p:cNvSpPr/>
          <p:nvPr/>
        </p:nvSpPr>
        <p:spPr>
          <a:xfrm>
            <a:off x="8284464" y="1737360"/>
            <a:ext cx="1280160" cy="1051560"/>
          </a:xfrm>
          <a:prstGeom prst="roundRect">
            <a:avLst>
              <a:gd name="adj" fmla="val 3478"/>
            </a:avLst>
          </a:prstGeom>
          <a:solidFill>
            <a:srgbClr val="397443"/>
          </a:solidFill>
          <a:ln w="12700">
            <a:solidFill>
              <a:srgbClr val="397443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394192" y="190195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394192" y="2176272"/>
            <a:ext cx="1060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Migration &amp; intégrations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8394192" y="2514600"/>
            <a:ext cx="1060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EAF2EB"/>
                </a:solidFill>
              </a:rPr>
              <a:t>S18–S20</a:t>
            </a:r>
            <a:endParaRPr lang="en-US" sz="870" dirty="0"/>
          </a:p>
        </p:txBody>
      </p:sp>
      <p:sp>
        <p:nvSpPr>
          <p:cNvPr id="27" name="Shape 25"/>
          <p:cNvSpPr/>
          <p:nvPr/>
        </p:nvSpPr>
        <p:spPr>
          <a:xfrm>
            <a:off x="9710928" y="1737360"/>
            <a:ext cx="914400" cy="1051560"/>
          </a:xfrm>
          <a:prstGeom prst="roundRect">
            <a:avLst>
              <a:gd name="adj" fmla="val 4000"/>
            </a:avLst>
          </a:prstGeom>
          <a:solidFill>
            <a:srgbClr val="9DB43B"/>
          </a:solidFill>
          <a:ln w="12700">
            <a:solidFill>
              <a:srgbClr val="9DB43B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9820656" y="190195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51C"/>
                </a:solidFill>
              </a:rPr>
              <a:t>6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820656" y="2176272"/>
            <a:ext cx="694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7251C"/>
                </a:solidFill>
              </a:rPr>
              <a:t>Recette &amp; formation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9820656" y="2514600"/>
            <a:ext cx="6949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17251C"/>
                </a:solidFill>
              </a:rPr>
              <a:t>S21–S22</a:t>
            </a:r>
            <a:endParaRPr lang="en-US" sz="870" dirty="0"/>
          </a:p>
        </p:txBody>
      </p:sp>
      <p:sp>
        <p:nvSpPr>
          <p:cNvPr id="31" name="Shape 29"/>
          <p:cNvSpPr/>
          <p:nvPr/>
        </p:nvSpPr>
        <p:spPr>
          <a:xfrm>
            <a:off x="10771632" y="1737360"/>
            <a:ext cx="914400" cy="1051560"/>
          </a:xfrm>
          <a:prstGeom prst="roundRect">
            <a:avLst>
              <a:gd name="adj" fmla="val 4000"/>
            </a:avLst>
          </a:prstGeom>
          <a:solidFill>
            <a:srgbClr val="234E2B"/>
          </a:solidFill>
          <a:ln w="12700">
            <a:solidFill>
              <a:srgbClr val="234E2B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10881360" y="190195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7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881360" y="2176272"/>
            <a:ext cx="694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Mise en production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10881360" y="2514600"/>
            <a:ext cx="6949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EAF2EB"/>
                </a:solidFill>
              </a:rPr>
              <a:t>S23–S24</a:t>
            </a:r>
            <a:endParaRPr lang="en-US" sz="870" dirty="0"/>
          </a:p>
        </p:txBody>
      </p:sp>
      <p:sp>
        <p:nvSpPr>
          <p:cNvPr id="35" name="Shape 33"/>
          <p:cNvSpPr/>
          <p:nvPr/>
        </p:nvSpPr>
        <p:spPr>
          <a:xfrm>
            <a:off x="658368" y="3401568"/>
            <a:ext cx="258775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D8E3D9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859536" y="3602736"/>
            <a:ext cx="457200" cy="457200"/>
          </a:xfrm>
          <a:prstGeom prst="ellipse">
            <a:avLst/>
          </a:prstGeom>
          <a:solidFill>
            <a:srgbClr val="234E2B"/>
          </a:solidFill>
          <a:ln w="12700">
            <a:solidFill>
              <a:srgbClr val="234E2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59536" y="3707892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J1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444752" y="361188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251C"/>
                </a:solidFill>
              </a:rPr>
              <a:t>Dossier de conception</a:t>
            </a:r>
            <a:endParaRPr lang="en-US" sz="1450" dirty="0"/>
          </a:p>
        </p:txBody>
      </p:sp>
      <p:sp>
        <p:nvSpPr>
          <p:cNvPr id="39" name="Text 37"/>
          <p:cNvSpPr/>
          <p:nvPr/>
        </p:nvSpPr>
        <p:spPr>
          <a:xfrm>
            <a:off x="877824" y="4023360"/>
            <a:ext cx="21488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526159"/>
                </a:solidFill>
              </a:rPr>
              <a:t>Processus cibles, périmètre, règles et backlog validés.</a:t>
            </a:r>
            <a:endParaRPr lang="en-US" sz="1060" dirty="0"/>
          </a:p>
        </p:txBody>
      </p:sp>
      <p:sp>
        <p:nvSpPr>
          <p:cNvPr id="40" name="Shape 38"/>
          <p:cNvSpPr/>
          <p:nvPr/>
        </p:nvSpPr>
        <p:spPr>
          <a:xfrm>
            <a:off x="3520440" y="3401568"/>
            <a:ext cx="258775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D8E3D9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721608" y="3602736"/>
            <a:ext cx="457200" cy="457200"/>
          </a:xfrm>
          <a:prstGeom prst="ellipse">
            <a:avLst/>
          </a:prstGeom>
          <a:solidFill>
            <a:srgbClr val="397443"/>
          </a:solidFill>
          <a:ln w="12700">
            <a:solidFill>
              <a:srgbClr val="39744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721608" y="3707892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J2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306824" y="361188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251C"/>
                </a:solidFill>
              </a:rPr>
              <a:t>Prototype accepté</a:t>
            </a:r>
            <a:endParaRPr lang="en-US" sz="1450" dirty="0"/>
          </a:p>
        </p:txBody>
      </p:sp>
      <p:sp>
        <p:nvSpPr>
          <p:cNvPr id="44" name="Text 42"/>
          <p:cNvSpPr/>
          <p:nvPr/>
        </p:nvSpPr>
        <p:spPr>
          <a:xfrm>
            <a:off x="3739896" y="4023360"/>
            <a:ext cx="21488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526159"/>
                </a:solidFill>
              </a:rPr>
              <a:t>Parcours clés, identité visuelle et architecture approuvés.</a:t>
            </a:r>
            <a:endParaRPr lang="en-US" sz="1060" dirty="0"/>
          </a:p>
        </p:txBody>
      </p:sp>
      <p:sp>
        <p:nvSpPr>
          <p:cNvPr id="45" name="Shape 43"/>
          <p:cNvSpPr/>
          <p:nvPr/>
        </p:nvSpPr>
        <p:spPr>
          <a:xfrm>
            <a:off x="6382512" y="3401568"/>
            <a:ext cx="258775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D8E3D9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583680" y="3602736"/>
            <a:ext cx="457200" cy="457200"/>
          </a:xfrm>
          <a:prstGeom prst="ellipse">
            <a:avLst/>
          </a:prstGeom>
          <a:solidFill>
            <a:srgbClr val="234E2B"/>
          </a:solidFill>
          <a:ln w="12700">
            <a:solidFill>
              <a:srgbClr val="234E2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583680" y="3707892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J3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168896" y="361188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251C"/>
                </a:solidFill>
              </a:rPr>
              <a:t>Recette fonctionnelle</a:t>
            </a:r>
            <a:endParaRPr lang="en-US" sz="1450" dirty="0"/>
          </a:p>
        </p:txBody>
      </p:sp>
      <p:sp>
        <p:nvSpPr>
          <p:cNvPr id="49" name="Text 47"/>
          <p:cNvSpPr/>
          <p:nvPr/>
        </p:nvSpPr>
        <p:spPr>
          <a:xfrm>
            <a:off x="6601968" y="4023360"/>
            <a:ext cx="21488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526159"/>
                </a:solidFill>
              </a:rPr>
              <a:t>Scénarios testés, anomalies critiques closes et données reprises.</a:t>
            </a:r>
            <a:endParaRPr lang="en-US" sz="1060" dirty="0"/>
          </a:p>
        </p:txBody>
      </p:sp>
      <p:sp>
        <p:nvSpPr>
          <p:cNvPr id="50" name="Shape 48"/>
          <p:cNvSpPr/>
          <p:nvPr/>
        </p:nvSpPr>
        <p:spPr>
          <a:xfrm>
            <a:off x="9244584" y="3401568"/>
            <a:ext cx="258775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D8E3D9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9445752" y="3602736"/>
            <a:ext cx="457200" cy="457200"/>
          </a:xfrm>
          <a:prstGeom prst="ellipse">
            <a:avLst/>
          </a:prstGeom>
          <a:solidFill>
            <a:srgbClr val="397443"/>
          </a:solidFill>
          <a:ln w="12700">
            <a:solidFill>
              <a:srgbClr val="39744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445752" y="3707892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J4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0030968" y="361188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251C"/>
                </a:solidFill>
              </a:rPr>
              <a:t>Démarrage</a:t>
            </a:r>
            <a:endParaRPr lang="en-US" sz="1450" dirty="0"/>
          </a:p>
        </p:txBody>
      </p:sp>
      <p:sp>
        <p:nvSpPr>
          <p:cNvPr id="54" name="Text 52"/>
          <p:cNvSpPr/>
          <p:nvPr/>
        </p:nvSpPr>
        <p:spPr>
          <a:xfrm>
            <a:off x="9464040" y="4023360"/>
            <a:ext cx="21488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526159"/>
                </a:solidFill>
              </a:rPr>
              <a:t>Utilisateurs formés, sauvegardes actives et support de proximité.</a:t>
            </a:r>
            <a:endParaRPr lang="en-US" sz="1060" dirty="0"/>
          </a:p>
        </p:txBody>
      </p:sp>
      <p:sp>
        <p:nvSpPr>
          <p:cNvPr id="55" name="Shape 53"/>
          <p:cNvSpPr/>
          <p:nvPr/>
        </p:nvSpPr>
        <p:spPr>
          <a:xfrm>
            <a:off x="658368" y="5650992"/>
            <a:ext cx="10972800" cy="475488"/>
          </a:xfrm>
          <a:prstGeom prst="roundRect">
            <a:avLst>
              <a:gd name="adj" fmla="val 7692"/>
            </a:avLst>
          </a:prstGeom>
          <a:solidFill>
            <a:srgbClr val="17251C"/>
          </a:solidFill>
          <a:ln w="12700">
            <a:solidFill>
              <a:srgbClr val="17251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14400" y="5815584"/>
            <a:ext cx="10469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Après le lancement : 4 semaines d’hypercare incluses pour stabilisation et accompagnement.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80" kern="0" dirty="0">
                <a:solidFill>
                  <a:srgbClr val="397443"/>
                </a:solidFill>
              </a:rPr>
              <a:t>EXÉCUTION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640080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51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Gouvernance, formation et transfert de compétences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03504" y="109728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159"/>
                </a:solidFill>
              </a:rPr>
              <a:t>Une organisation légère pour décider vite, sécuriser les données et favoriser l’adoption.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6510528"/>
            <a:ext cx="4846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7180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OFFRE ERP • OLIVE DANAROY • JUILLET 2026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155680" y="6473952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180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58368" y="1627632"/>
            <a:ext cx="3401568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0160">
            <a:solidFill>
              <a:srgbClr val="D8E3D9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59536" y="1828800"/>
            <a:ext cx="457200" cy="457200"/>
          </a:xfrm>
          <a:prstGeom prst="ellipse">
            <a:avLst/>
          </a:prstGeom>
          <a:solidFill>
            <a:srgbClr val="234E2B"/>
          </a:solidFill>
          <a:ln w="12700">
            <a:solidFill>
              <a:srgbClr val="234E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9536" y="1933956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COP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444752" y="1837944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251C"/>
                </a:solidFill>
              </a:rPr>
              <a:t>Comité de pilotage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77824" y="2249424"/>
            <a:ext cx="2962656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26159"/>
                </a:solidFill>
              </a:rPr>
              <a:t>Direction générale, sponsor, chef de projet client et chef de projet intégrateur. Arbitrage mensuel : périmètre, budget, risques et décisions.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407408" y="1627632"/>
            <a:ext cx="3401568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0160">
            <a:solidFill>
              <a:srgbClr val="D8E3D9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08576" y="1828800"/>
            <a:ext cx="457200" cy="457200"/>
          </a:xfrm>
          <a:prstGeom prst="ellipse">
            <a:avLst/>
          </a:prstGeom>
          <a:solidFill>
            <a:srgbClr val="397443"/>
          </a:solidFill>
          <a:ln w="12700">
            <a:solidFill>
              <a:srgbClr val="39744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08576" y="1933956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PRJ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193792" y="1837944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251C"/>
                </a:solidFill>
              </a:rPr>
              <a:t>Équipe projet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626864" y="2249424"/>
            <a:ext cx="2962656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26159"/>
                </a:solidFill>
              </a:rPr>
              <a:t>Référents par activité, finance, informatique et contrôle interne. Ateliers, préparation des données, tests et validation des règles.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156448" y="1627632"/>
            <a:ext cx="3401568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0160">
            <a:solidFill>
              <a:srgbClr val="D8E3D9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357616" y="1828800"/>
            <a:ext cx="457200" cy="457200"/>
          </a:xfrm>
          <a:prstGeom prst="ellipse">
            <a:avLst/>
          </a:prstGeom>
          <a:solidFill>
            <a:srgbClr val="9DB43B"/>
          </a:solidFill>
          <a:ln w="12700">
            <a:solidFill>
              <a:srgbClr val="9DB4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57616" y="1933956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RIT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942832" y="1837944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251C"/>
                </a:solidFill>
              </a:rPr>
              <a:t>Cadence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375904" y="2249424"/>
            <a:ext cx="2962656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26159"/>
                </a:solidFill>
              </a:rPr>
              <a:t>Point projet hebdomadaire, démonstration bimensuelle, registre des décisions, suivi des actions et tableau des risques.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58368" y="409651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34E2B"/>
                </a:solidFill>
              </a:rPr>
              <a:t>PLAN DE FORMATION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58368" y="4498848"/>
            <a:ext cx="2578608" cy="1353312"/>
          </a:xfrm>
          <a:prstGeom prst="roundRect">
            <a:avLst>
              <a:gd name="adj" fmla="val 3378"/>
            </a:avLst>
          </a:prstGeom>
          <a:solidFill>
            <a:srgbClr val="F3F7F3"/>
          </a:solidFill>
          <a:ln w="12700">
            <a:solidFill>
              <a:srgbClr val="D8E3D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9536" y="4718304"/>
            <a:ext cx="2176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51C"/>
                </a:solidFill>
              </a:rPr>
              <a:t>Administrateurs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2286000" y="4663440"/>
            <a:ext cx="713232" cy="310896"/>
          </a:xfrm>
          <a:prstGeom prst="roundRect">
            <a:avLst>
              <a:gd name="adj" fmla="val 23529"/>
            </a:avLst>
          </a:prstGeom>
          <a:solidFill>
            <a:srgbClr val="E6EFE7"/>
          </a:solidFill>
          <a:ln w="12700">
            <a:solidFill>
              <a:srgbClr val="E6EFE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59152" y="4727448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34E2B"/>
                </a:solidFill>
              </a:rPr>
              <a:t>2 jours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59536" y="5138928"/>
            <a:ext cx="21762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26159"/>
                </a:solidFill>
              </a:rPr>
              <a:t>Paramétrage, profils, référentiels, sauvegardes, support N1</a:t>
            </a:r>
            <a:endParaRPr lang="en-US" sz="980" dirty="0"/>
          </a:p>
        </p:txBody>
      </p:sp>
      <p:sp>
        <p:nvSpPr>
          <p:cNvPr id="28" name="Shape 26"/>
          <p:cNvSpPr/>
          <p:nvPr/>
        </p:nvSpPr>
        <p:spPr>
          <a:xfrm>
            <a:off x="3511296" y="4498848"/>
            <a:ext cx="2578608" cy="1353312"/>
          </a:xfrm>
          <a:prstGeom prst="roundRect">
            <a:avLst>
              <a:gd name="adj" fmla="val 3378"/>
            </a:avLst>
          </a:prstGeom>
          <a:solidFill>
            <a:srgbClr val="F3F7F3"/>
          </a:solidFill>
          <a:ln w="12700">
            <a:solidFill>
              <a:srgbClr val="D8E3D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12464" y="4718304"/>
            <a:ext cx="2176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51C"/>
                </a:solidFill>
              </a:rPr>
              <a:t>Super-utilisateurs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5138928" y="4663440"/>
            <a:ext cx="713232" cy="310896"/>
          </a:xfrm>
          <a:prstGeom prst="roundRect">
            <a:avLst>
              <a:gd name="adj" fmla="val 23529"/>
            </a:avLst>
          </a:prstGeom>
          <a:solidFill>
            <a:srgbClr val="E6EFE7"/>
          </a:solidFill>
          <a:ln w="12700">
            <a:solidFill>
              <a:srgbClr val="E6EFE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12080" y="4727448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34E2B"/>
                </a:solidFill>
              </a:rPr>
              <a:t>3 jours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712464" y="5138928"/>
            <a:ext cx="21762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26159"/>
                </a:solidFill>
              </a:rPr>
              <a:t>Processus métiers, contrôles, recette, assistance aux équipes</a:t>
            </a:r>
            <a:endParaRPr lang="en-US" sz="980" dirty="0"/>
          </a:p>
        </p:txBody>
      </p:sp>
      <p:sp>
        <p:nvSpPr>
          <p:cNvPr id="33" name="Shape 31"/>
          <p:cNvSpPr/>
          <p:nvPr/>
        </p:nvSpPr>
        <p:spPr>
          <a:xfrm>
            <a:off x="6364224" y="4498848"/>
            <a:ext cx="2578608" cy="1353312"/>
          </a:xfrm>
          <a:prstGeom prst="roundRect">
            <a:avLst>
              <a:gd name="adj" fmla="val 3378"/>
            </a:avLst>
          </a:prstGeom>
          <a:solidFill>
            <a:srgbClr val="F3F7F3"/>
          </a:solidFill>
          <a:ln w="12700">
            <a:solidFill>
              <a:srgbClr val="D8E3D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65392" y="4718304"/>
            <a:ext cx="2176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51C"/>
                </a:solidFill>
              </a:rPr>
              <a:t>Utilisateurs finaux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7991856" y="4663440"/>
            <a:ext cx="713232" cy="310896"/>
          </a:xfrm>
          <a:prstGeom prst="roundRect">
            <a:avLst>
              <a:gd name="adj" fmla="val 23529"/>
            </a:avLst>
          </a:prstGeom>
          <a:solidFill>
            <a:srgbClr val="E6EFE7"/>
          </a:solidFill>
          <a:ln w="12700">
            <a:solidFill>
              <a:srgbClr val="E6EFE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065008" y="4727448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34E2B"/>
                </a:solidFill>
              </a:rPr>
              <a:t>6 sessions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565392" y="5138928"/>
            <a:ext cx="21762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26159"/>
                </a:solidFill>
              </a:rPr>
              <a:t>Rôle par rôle, exercices sur données de démonstration</a:t>
            </a:r>
            <a:endParaRPr lang="en-US" sz="980" dirty="0"/>
          </a:p>
        </p:txBody>
      </p:sp>
      <p:sp>
        <p:nvSpPr>
          <p:cNvPr id="38" name="Shape 36"/>
          <p:cNvSpPr/>
          <p:nvPr/>
        </p:nvSpPr>
        <p:spPr>
          <a:xfrm>
            <a:off x="9217152" y="4498848"/>
            <a:ext cx="2578608" cy="1353312"/>
          </a:xfrm>
          <a:prstGeom prst="roundRect">
            <a:avLst>
              <a:gd name="adj" fmla="val 3378"/>
            </a:avLst>
          </a:prstGeom>
          <a:solidFill>
            <a:srgbClr val="F3F7F3"/>
          </a:solidFill>
          <a:ln w="12700">
            <a:solidFill>
              <a:srgbClr val="D8E3D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418320" y="4718304"/>
            <a:ext cx="2176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51C"/>
                </a:solidFill>
              </a:rPr>
              <a:t>Direction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10844784" y="4663440"/>
            <a:ext cx="713232" cy="310896"/>
          </a:xfrm>
          <a:prstGeom prst="roundRect">
            <a:avLst>
              <a:gd name="adj" fmla="val 23529"/>
            </a:avLst>
          </a:prstGeom>
          <a:solidFill>
            <a:srgbClr val="E6EFE7"/>
          </a:solidFill>
          <a:ln w="12700">
            <a:solidFill>
              <a:srgbClr val="E6EFE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917936" y="4727448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34E2B"/>
                </a:solidFill>
              </a:rPr>
              <a:t>½ journée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9418320" y="5138928"/>
            <a:ext cx="21762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26159"/>
                </a:solidFill>
              </a:rPr>
              <a:t>Tableaux de bord, alertes, analyse et exports</a:t>
            </a:r>
            <a:endParaRPr lang="en-US" sz="980" dirty="0"/>
          </a:p>
        </p:txBody>
      </p:sp>
      <p:sp>
        <p:nvSpPr>
          <p:cNvPr id="43" name="Text 41"/>
          <p:cNvSpPr/>
          <p:nvPr/>
        </p:nvSpPr>
        <p:spPr>
          <a:xfrm>
            <a:off x="685800" y="6062472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234E2B"/>
                </a:solidFill>
              </a:rPr>
              <a:t>Livrables : guides utilisateurs • procédures d’exploitation • dossier d’architecture • plan de sauvegarde • cahier de recette</a:t>
            </a:r>
            <a:endParaRPr lang="en-US" sz="98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80" kern="0" dirty="0">
                <a:solidFill>
                  <a:srgbClr val="397443"/>
                </a:solidFill>
              </a:rPr>
              <a:t>FINANCIER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640080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51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Budget forfaitaire indicatif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03504" y="109728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159"/>
                </a:solidFill>
              </a:rPr>
              <a:t>Montants en FCFA hors taxes. Le prix définitif sera confirmé après cadrage et validation du périmètre.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6510528"/>
            <a:ext cx="4846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7180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OFFRE ERP • OLIVE DANAROY • JUILLET 2026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155680" y="6473952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180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58368" y="1554480"/>
            <a:ext cx="10853928" cy="420624"/>
          </a:xfrm>
          <a:prstGeom prst="roundRect">
            <a:avLst>
              <a:gd name="adj" fmla="val 8696"/>
            </a:avLst>
          </a:prstGeom>
          <a:solidFill>
            <a:srgbClr val="234E2B"/>
          </a:solidFill>
          <a:ln w="12700">
            <a:solidFill>
              <a:srgbClr val="234E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691640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</a:rPr>
              <a:t>POSTE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9573768" y="1691640"/>
            <a:ext cx="17739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00" kern="0" dirty="0">
                <a:solidFill>
                  <a:srgbClr val="E9D928"/>
                </a:solidFill>
              </a:rPr>
              <a:t>MONTANT HT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58368" y="1975104"/>
            <a:ext cx="10853928" cy="356616"/>
          </a:xfrm>
          <a:prstGeom prst="rect">
            <a:avLst/>
          </a:prstGeom>
          <a:solidFill>
            <a:srgbClr val="EDF3EE"/>
          </a:solidFill>
          <a:ln w="5080">
            <a:solidFill>
              <a:srgbClr val="D8E3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080260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17251C"/>
                </a:solidFill>
              </a:rPr>
              <a:t>Cadrage, cartographie des processus &amp; blueprint</a:t>
            </a:r>
            <a:endParaRPr lang="en-US" sz="1010" dirty="0"/>
          </a:p>
        </p:txBody>
      </p:sp>
      <p:sp>
        <p:nvSpPr>
          <p:cNvPr id="12" name="Text 10"/>
          <p:cNvSpPr/>
          <p:nvPr/>
        </p:nvSpPr>
        <p:spPr>
          <a:xfrm>
            <a:off x="9573768" y="2080260"/>
            <a:ext cx="17739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30" b="1" dirty="0">
                <a:solidFill>
                  <a:srgbClr val="234E2B"/>
                </a:solidFill>
              </a:rPr>
              <a:t>2 250 000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658368" y="2331720"/>
            <a:ext cx="10853928" cy="356616"/>
          </a:xfrm>
          <a:prstGeom prst="rect">
            <a:avLst/>
          </a:prstGeom>
          <a:solidFill>
            <a:srgbClr val="FFFFFF"/>
          </a:solidFill>
          <a:ln w="5080">
            <a:solidFill>
              <a:srgbClr val="D8E3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2436876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17251C"/>
                </a:solidFill>
              </a:rPr>
              <a:t>UX/UI, prototype &amp; architecture technique</a:t>
            </a:r>
            <a:endParaRPr lang="en-US" sz="1010" dirty="0"/>
          </a:p>
        </p:txBody>
      </p:sp>
      <p:sp>
        <p:nvSpPr>
          <p:cNvPr id="15" name="Text 13"/>
          <p:cNvSpPr/>
          <p:nvPr/>
        </p:nvSpPr>
        <p:spPr>
          <a:xfrm>
            <a:off x="9573768" y="2436876"/>
            <a:ext cx="17739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30" b="1" dirty="0">
                <a:solidFill>
                  <a:srgbClr val="234E2B"/>
                </a:solidFill>
              </a:rPr>
              <a:t>2 500 000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658368" y="2688336"/>
            <a:ext cx="10853928" cy="356616"/>
          </a:xfrm>
          <a:prstGeom prst="rect">
            <a:avLst/>
          </a:prstGeom>
          <a:solidFill>
            <a:srgbClr val="EDF3EE"/>
          </a:solidFill>
          <a:ln w="5080">
            <a:solidFill>
              <a:srgbClr val="D8E3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2793492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17251C"/>
                </a:solidFill>
              </a:rPr>
              <a:t>Socle ERP : CRM, ventes, achats, stocks, finance, RH, documents</a:t>
            </a:r>
            <a:endParaRPr lang="en-US" sz="1010" dirty="0"/>
          </a:p>
        </p:txBody>
      </p:sp>
      <p:sp>
        <p:nvSpPr>
          <p:cNvPr id="18" name="Text 16"/>
          <p:cNvSpPr/>
          <p:nvPr/>
        </p:nvSpPr>
        <p:spPr>
          <a:xfrm>
            <a:off x="9573768" y="2793492"/>
            <a:ext cx="17739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30" b="1" dirty="0">
                <a:solidFill>
                  <a:srgbClr val="234E2B"/>
                </a:solidFill>
              </a:rPr>
              <a:t>9 800 000</a:t>
            </a:r>
            <a:endParaRPr lang="en-US" sz="1030" dirty="0"/>
          </a:p>
        </p:txBody>
      </p:sp>
      <p:sp>
        <p:nvSpPr>
          <p:cNvPr id="19" name="Shape 17"/>
          <p:cNvSpPr/>
          <p:nvPr/>
        </p:nvSpPr>
        <p:spPr>
          <a:xfrm>
            <a:off x="658368" y="3044952"/>
            <a:ext cx="10853928" cy="356616"/>
          </a:xfrm>
          <a:prstGeom prst="rect">
            <a:avLst/>
          </a:prstGeom>
          <a:solidFill>
            <a:srgbClr val="FFFFFF"/>
          </a:solidFill>
          <a:ln w="5080">
            <a:solidFill>
              <a:srgbClr val="D8E3D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3150108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17251C"/>
                </a:solidFill>
              </a:rPr>
              <a:t>Module BTP &amp; gestion de projets / chantiers</a:t>
            </a:r>
            <a:endParaRPr lang="en-US" sz="1010" dirty="0"/>
          </a:p>
        </p:txBody>
      </p:sp>
      <p:sp>
        <p:nvSpPr>
          <p:cNvPr id="21" name="Text 19"/>
          <p:cNvSpPr/>
          <p:nvPr/>
        </p:nvSpPr>
        <p:spPr>
          <a:xfrm>
            <a:off x="9573768" y="3150108"/>
            <a:ext cx="17739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30" b="1" dirty="0">
                <a:solidFill>
                  <a:srgbClr val="234E2B"/>
                </a:solidFill>
              </a:rPr>
              <a:t>4 600 000</a:t>
            </a:r>
            <a:endParaRPr lang="en-US" sz="1030" dirty="0"/>
          </a:p>
        </p:txBody>
      </p:sp>
      <p:sp>
        <p:nvSpPr>
          <p:cNvPr id="22" name="Shape 20"/>
          <p:cNvSpPr/>
          <p:nvPr/>
        </p:nvSpPr>
        <p:spPr>
          <a:xfrm>
            <a:off x="658368" y="3401568"/>
            <a:ext cx="10853928" cy="356616"/>
          </a:xfrm>
          <a:prstGeom prst="rect">
            <a:avLst/>
          </a:prstGeom>
          <a:solidFill>
            <a:srgbClr val="EDF3EE"/>
          </a:solidFill>
          <a:ln w="5080">
            <a:solidFill>
              <a:srgbClr val="D8E3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350672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17251C"/>
                </a:solidFill>
              </a:rPr>
              <a:t>Module transport, logistique &amp; flotte</a:t>
            </a:r>
            <a:endParaRPr lang="en-US" sz="1010" dirty="0"/>
          </a:p>
        </p:txBody>
      </p:sp>
      <p:sp>
        <p:nvSpPr>
          <p:cNvPr id="24" name="Text 22"/>
          <p:cNvSpPr/>
          <p:nvPr/>
        </p:nvSpPr>
        <p:spPr>
          <a:xfrm>
            <a:off x="9573768" y="3506724"/>
            <a:ext cx="17739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30" b="1" dirty="0">
                <a:solidFill>
                  <a:srgbClr val="234E2B"/>
                </a:solidFill>
              </a:rPr>
              <a:t>3 200 000</a:t>
            </a:r>
            <a:endParaRPr lang="en-US" sz="1030" dirty="0"/>
          </a:p>
        </p:txBody>
      </p:sp>
      <p:sp>
        <p:nvSpPr>
          <p:cNvPr id="25" name="Shape 23"/>
          <p:cNvSpPr/>
          <p:nvPr/>
        </p:nvSpPr>
        <p:spPr>
          <a:xfrm>
            <a:off x="658368" y="3758184"/>
            <a:ext cx="10853928" cy="356616"/>
          </a:xfrm>
          <a:prstGeom prst="rect">
            <a:avLst/>
          </a:prstGeom>
          <a:solidFill>
            <a:srgbClr val="FFFFFF"/>
          </a:solidFill>
          <a:ln w="5080">
            <a:solidFill>
              <a:srgbClr val="D8E3D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3863340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17251C"/>
                </a:solidFill>
              </a:rPr>
              <a:t>Module restaurant : POS, cuisine, recettes &amp; stock</a:t>
            </a:r>
            <a:endParaRPr lang="en-US" sz="1010" dirty="0"/>
          </a:p>
        </p:txBody>
      </p:sp>
      <p:sp>
        <p:nvSpPr>
          <p:cNvPr id="27" name="Text 25"/>
          <p:cNvSpPr/>
          <p:nvPr/>
        </p:nvSpPr>
        <p:spPr>
          <a:xfrm>
            <a:off x="9573768" y="3863340"/>
            <a:ext cx="17739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30" b="1" dirty="0">
                <a:solidFill>
                  <a:srgbClr val="234E2B"/>
                </a:solidFill>
              </a:rPr>
              <a:t>3 300 000</a:t>
            </a:r>
            <a:endParaRPr lang="en-US" sz="1030" dirty="0"/>
          </a:p>
        </p:txBody>
      </p:sp>
      <p:sp>
        <p:nvSpPr>
          <p:cNvPr id="28" name="Shape 26"/>
          <p:cNvSpPr/>
          <p:nvPr/>
        </p:nvSpPr>
        <p:spPr>
          <a:xfrm>
            <a:off x="658368" y="4114800"/>
            <a:ext cx="10853928" cy="356616"/>
          </a:xfrm>
          <a:prstGeom prst="rect">
            <a:avLst/>
          </a:prstGeom>
          <a:solidFill>
            <a:srgbClr val="EDF3EE"/>
          </a:solidFill>
          <a:ln w="5080">
            <a:solidFill>
              <a:srgbClr val="D8E3D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" y="4219956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17251C"/>
                </a:solidFill>
              </a:rPr>
              <a:t>Modules salles, traiteur &amp; résidences</a:t>
            </a:r>
            <a:endParaRPr lang="en-US" sz="1010" dirty="0"/>
          </a:p>
        </p:txBody>
      </p:sp>
      <p:sp>
        <p:nvSpPr>
          <p:cNvPr id="30" name="Text 28"/>
          <p:cNvSpPr/>
          <p:nvPr/>
        </p:nvSpPr>
        <p:spPr>
          <a:xfrm>
            <a:off x="9573768" y="4219956"/>
            <a:ext cx="17739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30" b="1" dirty="0">
                <a:solidFill>
                  <a:srgbClr val="234E2B"/>
                </a:solidFill>
              </a:rPr>
              <a:t>2 600 000</a:t>
            </a:r>
            <a:endParaRPr lang="en-US" sz="1030" dirty="0"/>
          </a:p>
        </p:txBody>
      </p:sp>
      <p:sp>
        <p:nvSpPr>
          <p:cNvPr id="31" name="Shape 29"/>
          <p:cNvSpPr/>
          <p:nvPr/>
        </p:nvSpPr>
        <p:spPr>
          <a:xfrm>
            <a:off x="658368" y="4471416"/>
            <a:ext cx="10853928" cy="356616"/>
          </a:xfrm>
          <a:prstGeom prst="rect">
            <a:avLst/>
          </a:prstGeom>
          <a:solidFill>
            <a:srgbClr val="FFFFFF"/>
          </a:solidFill>
          <a:ln w="5080">
            <a:solidFill>
              <a:srgbClr val="D8E3D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2960" y="4576572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17251C"/>
                </a:solidFill>
              </a:rPr>
              <a:t>Module lavage automobile</a:t>
            </a:r>
            <a:endParaRPr lang="en-US" sz="1010" dirty="0"/>
          </a:p>
        </p:txBody>
      </p:sp>
      <p:sp>
        <p:nvSpPr>
          <p:cNvPr id="33" name="Text 31"/>
          <p:cNvSpPr/>
          <p:nvPr/>
        </p:nvSpPr>
        <p:spPr>
          <a:xfrm>
            <a:off x="9573768" y="4576572"/>
            <a:ext cx="17739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30" b="1" dirty="0">
                <a:solidFill>
                  <a:srgbClr val="234E2B"/>
                </a:solidFill>
              </a:rPr>
              <a:t>1 900 000</a:t>
            </a:r>
            <a:endParaRPr lang="en-US" sz="1030" dirty="0"/>
          </a:p>
        </p:txBody>
      </p:sp>
      <p:sp>
        <p:nvSpPr>
          <p:cNvPr id="34" name="Shape 32"/>
          <p:cNvSpPr/>
          <p:nvPr/>
        </p:nvSpPr>
        <p:spPr>
          <a:xfrm>
            <a:off x="658368" y="4828032"/>
            <a:ext cx="10853928" cy="356616"/>
          </a:xfrm>
          <a:prstGeom prst="rect">
            <a:avLst/>
          </a:prstGeom>
          <a:solidFill>
            <a:srgbClr val="EDF3EE"/>
          </a:solidFill>
          <a:ln w="5080">
            <a:solidFill>
              <a:srgbClr val="D8E3D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2960" y="4933188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17251C"/>
                </a:solidFill>
              </a:rPr>
              <a:t>Reporting, portail &amp; expérience mobile PWA</a:t>
            </a:r>
            <a:endParaRPr lang="en-US" sz="1010" dirty="0"/>
          </a:p>
        </p:txBody>
      </p:sp>
      <p:sp>
        <p:nvSpPr>
          <p:cNvPr id="36" name="Text 34"/>
          <p:cNvSpPr/>
          <p:nvPr/>
        </p:nvSpPr>
        <p:spPr>
          <a:xfrm>
            <a:off x="9573768" y="4933188"/>
            <a:ext cx="17739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30" b="1" dirty="0">
                <a:solidFill>
                  <a:srgbClr val="234E2B"/>
                </a:solidFill>
              </a:rPr>
              <a:t>2 100 000</a:t>
            </a:r>
            <a:endParaRPr lang="en-US" sz="1030" dirty="0"/>
          </a:p>
        </p:txBody>
      </p:sp>
      <p:sp>
        <p:nvSpPr>
          <p:cNvPr id="37" name="Shape 35"/>
          <p:cNvSpPr/>
          <p:nvPr/>
        </p:nvSpPr>
        <p:spPr>
          <a:xfrm>
            <a:off x="658368" y="5184648"/>
            <a:ext cx="10853928" cy="356616"/>
          </a:xfrm>
          <a:prstGeom prst="rect">
            <a:avLst/>
          </a:prstGeom>
          <a:solidFill>
            <a:srgbClr val="FFFFFF"/>
          </a:solidFill>
          <a:ln w="5080">
            <a:solidFill>
              <a:srgbClr val="D8E3D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22960" y="528980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17251C"/>
                </a:solidFill>
              </a:rPr>
              <a:t>Migration, paramétrage &amp; intégrations standards</a:t>
            </a:r>
            <a:endParaRPr lang="en-US" sz="1010" dirty="0"/>
          </a:p>
        </p:txBody>
      </p:sp>
      <p:sp>
        <p:nvSpPr>
          <p:cNvPr id="39" name="Text 37"/>
          <p:cNvSpPr/>
          <p:nvPr/>
        </p:nvSpPr>
        <p:spPr>
          <a:xfrm>
            <a:off x="9573768" y="5289804"/>
            <a:ext cx="17739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30" b="1" dirty="0">
                <a:solidFill>
                  <a:srgbClr val="234E2B"/>
                </a:solidFill>
              </a:rPr>
              <a:t>2 400 000</a:t>
            </a:r>
            <a:endParaRPr lang="en-US" sz="1030" dirty="0"/>
          </a:p>
        </p:txBody>
      </p:sp>
      <p:sp>
        <p:nvSpPr>
          <p:cNvPr id="40" name="Shape 38"/>
          <p:cNvSpPr/>
          <p:nvPr/>
        </p:nvSpPr>
        <p:spPr>
          <a:xfrm>
            <a:off x="658368" y="5541264"/>
            <a:ext cx="10853928" cy="356616"/>
          </a:xfrm>
          <a:prstGeom prst="rect">
            <a:avLst/>
          </a:prstGeom>
          <a:solidFill>
            <a:srgbClr val="EDF3EE"/>
          </a:solidFill>
          <a:ln w="5080">
            <a:solidFill>
              <a:srgbClr val="D8E3D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22960" y="5646420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17251C"/>
                </a:solidFill>
              </a:rPr>
              <a:t>Recette, formation, déploiement &amp; hypercare</a:t>
            </a:r>
            <a:endParaRPr lang="en-US" sz="1010" dirty="0"/>
          </a:p>
        </p:txBody>
      </p:sp>
      <p:sp>
        <p:nvSpPr>
          <p:cNvPr id="42" name="Text 40"/>
          <p:cNvSpPr/>
          <p:nvPr/>
        </p:nvSpPr>
        <p:spPr>
          <a:xfrm>
            <a:off x="9573768" y="5646420"/>
            <a:ext cx="17739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30" b="1" dirty="0">
                <a:solidFill>
                  <a:srgbClr val="234E2B"/>
                </a:solidFill>
              </a:rPr>
              <a:t>2 200 000</a:t>
            </a:r>
            <a:endParaRPr lang="en-US" sz="1030" dirty="0"/>
          </a:p>
        </p:txBody>
      </p:sp>
      <p:sp>
        <p:nvSpPr>
          <p:cNvPr id="43" name="Shape 41"/>
          <p:cNvSpPr/>
          <p:nvPr/>
        </p:nvSpPr>
        <p:spPr>
          <a:xfrm>
            <a:off x="7726680" y="5989320"/>
            <a:ext cx="3246120" cy="475488"/>
          </a:xfrm>
          <a:prstGeom prst="roundRect">
            <a:avLst>
              <a:gd name="adj" fmla="val 9615"/>
            </a:avLst>
          </a:prstGeom>
          <a:solidFill>
            <a:srgbClr val="17251C"/>
          </a:solidFill>
          <a:ln w="12700">
            <a:solidFill>
              <a:srgbClr val="17251C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7936992" y="6135624"/>
            <a:ext cx="822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E9D928"/>
                </a:solidFill>
              </a:rPr>
              <a:t>TOTAL HT</a:t>
            </a:r>
            <a:endParaRPr lang="en-US" sz="920" dirty="0"/>
          </a:p>
        </p:txBody>
      </p:sp>
      <p:sp>
        <p:nvSpPr>
          <p:cNvPr id="45" name="Text 43"/>
          <p:cNvSpPr/>
          <p:nvPr/>
        </p:nvSpPr>
        <p:spPr>
          <a:xfrm>
            <a:off x="8732520" y="6099048"/>
            <a:ext cx="1993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550" b="1" dirty="0">
                <a:solidFill>
                  <a:srgbClr val="FFFFFF"/>
                </a:solidFill>
              </a:rPr>
              <a:t>36 850 000 FCFA</a:t>
            </a:r>
            <a:endParaRPr lang="en-US" sz="1550" dirty="0"/>
          </a:p>
        </p:txBody>
      </p:sp>
      <p:sp>
        <p:nvSpPr>
          <p:cNvPr id="46" name="Text 44"/>
          <p:cNvSpPr/>
          <p:nvPr/>
        </p:nvSpPr>
        <p:spPr>
          <a:xfrm>
            <a:off x="713232" y="5998464"/>
            <a:ext cx="6629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90" i="1" dirty="0">
                <a:solidFill>
                  <a:srgbClr val="526159"/>
                </a:solidFill>
              </a:rPr>
              <a:t>TVA et retenues éventuelles selon la réglementation applicable. Services tiers et déplacements hors Abidjan non inclus.</a:t>
            </a:r>
            <a:endParaRPr lang="en-US" sz="89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80" kern="0" dirty="0">
                <a:solidFill>
                  <a:srgbClr val="397443"/>
                </a:solidFill>
              </a:rPr>
              <a:t>FINANCIER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640080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51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Échéancier de paiement et coûts récurrents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03504" y="109728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159"/>
                </a:solidFill>
              </a:rPr>
              <a:t>Les paiements sont liés à des livrables vérifiables ; l’exploitation récurrente démarre à la mise en production.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6510528"/>
            <a:ext cx="4846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7180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OFFRE ERP • OLIVE DANAROY • JUILLET 2026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155680" y="6473952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180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58368" y="157276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234E2B"/>
                </a:solidFill>
              </a:rPr>
              <a:t>ÉCHÉANCIER PROPOSÉ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58368" y="1901952"/>
            <a:ext cx="5897880" cy="448056"/>
          </a:xfrm>
          <a:prstGeom prst="roundRect">
            <a:avLst>
              <a:gd name="adj" fmla="val 8163"/>
            </a:avLst>
          </a:prstGeom>
          <a:solidFill>
            <a:srgbClr val="F3F7F3"/>
          </a:solidFill>
          <a:ln w="12700">
            <a:solidFill>
              <a:srgbClr val="D8E3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029968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34E2B"/>
                </a:solidFill>
              </a:rPr>
              <a:t>20 %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508760" y="2029968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251C"/>
                </a:solidFill>
              </a:rPr>
              <a:t>Commande &amp; lancement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709160" y="2029968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397443"/>
                </a:solidFill>
              </a:rPr>
              <a:t>7 370 000 FCFA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58368" y="2496312"/>
            <a:ext cx="5897880" cy="448056"/>
          </a:xfrm>
          <a:prstGeom prst="roundRect">
            <a:avLst>
              <a:gd name="adj" fmla="val 8163"/>
            </a:avLst>
          </a:prstGeom>
          <a:solidFill>
            <a:srgbClr val="F3F7F3"/>
          </a:solidFill>
          <a:ln w="12700">
            <a:solidFill>
              <a:srgbClr val="D8E3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2624328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34E2B"/>
                </a:solidFill>
              </a:rPr>
              <a:t>20 %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508760" y="2624328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251C"/>
                </a:solidFill>
              </a:rPr>
              <a:t>Blueprint &amp; prototype validés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709160" y="2624328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397443"/>
                </a:solidFill>
              </a:rPr>
              <a:t>7 370 000 FCFA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58368" y="3090672"/>
            <a:ext cx="5897880" cy="448056"/>
          </a:xfrm>
          <a:prstGeom prst="roundRect">
            <a:avLst>
              <a:gd name="adj" fmla="val 8163"/>
            </a:avLst>
          </a:prstGeom>
          <a:solidFill>
            <a:srgbClr val="E6EFE7"/>
          </a:solidFill>
          <a:ln w="12700">
            <a:solidFill>
              <a:srgbClr val="D8E3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218688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34E2B"/>
                </a:solidFill>
              </a:rPr>
              <a:t>25 %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508760" y="3218688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251C"/>
                </a:solidFill>
              </a:rPr>
              <a:t>Socle ERP &amp; BTP en recette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709160" y="3218688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397443"/>
                </a:solidFill>
              </a:rPr>
              <a:t>9 212 500 FCFA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58368" y="3685032"/>
            <a:ext cx="5897880" cy="448056"/>
          </a:xfrm>
          <a:prstGeom prst="roundRect">
            <a:avLst>
              <a:gd name="adj" fmla="val 8163"/>
            </a:avLst>
          </a:prstGeom>
          <a:solidFill>
            <a:srgbClr val="F3F7F3"/>
          </a:solidFill>
          <a:ln w="12700">
            <a:solidFill>
              <a:srgbClr val="D8E3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3813048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34E2B"/>
                </a:solidFill>
              </a:rPr>
              <a:t>20 %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508760" y="3813048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251C"/>
                </a:solidFill>
              </a:rPr>
              <a:t>Modules métiers en recette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709160" y="3813048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397443"/>
                </a:solidFill>
              </a:rPr>
              <a:t>7 370 000 FCFA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58368" y="4279392"/>
            <a:ext cx="5897880" cy="448056"/>
          </a:xfrm>
          <a:prstGeom prst="roundRect">
            <a:avLst>
              <a:gd name="adj" fmla="val 8163"/>
            </a:avLst>
          </a:prstGeom>
          <a:solidFill>
            <a:srgbClr val="F3F7F3"/>
          </a:solidFill>
          <a:ln w="12700">
            <a:solidFill>
              <a:srgbClr val="D8E3D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4407408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34E2B"/>
                </a:solidFill>
              </a:rPr>
              <a:t>10 %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508760" y="4407408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251C"/>
                </a:solidFill>
              </a:rPr>
              <a:t>Mise en production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709160" y="4407408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397443"/>
                </a:solidFill>
              </a:rPr>
              <a:t>3 685 000 FCFA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58368" y="4873752"/>
            <a:ext cx="5897880" cy="448056"/>
          </a:xfrm>
          <a:prstGeom prst="roundRect">
            <a:avLst>
              <a:gd name="adj" fmla="val 8163"/>
            </a:avLst>
          </a:prstGeom>
          <a:solidFill>
            <a:srgbClr val="F3F7F3"/>
          </a:solidFill>
          <a:ln w="12700">
            <a:solidFill>
              <a:srgbClr val="D8E3D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" y="5001768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34E2B"/>
                </a:solidFill>
              </a:rPr>
              <a:t>5 %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1508760" y="5001768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251C"/>
                </a:solidFill>
              </a:rPr>
              <a:t>Réception après hypercare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709160" y="5001768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397443"/>
                </a:solidFill>
              </a:rPr>
              <a:t>1 842 500 FCFA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995160" y="157276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234E2B"/>
                </a:solidFill>
              </a:rPr>
              <a:t>EXPLOITATION RÉCURRENTE — NON INCLUSE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995160" y="1901952"/>
            <a:ext cx="45262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0160">
            <a:solidFill>
              <a:srgbClr val="D8E3D9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196328" y="2103120"/>
            <a:ext cx="457200" cy="457200"/>
          </a:xfrm>
          <a:prstGeom prst="ellipse">
            <a:avLst/>
          </a:prstGeom>
          <a:solidFill>
            <a:srgbClr val="234E2B"/>
          </a:solidFill>
          <a:ln w="12700">
            <a:solidFill>
              <a:srgbClr val="234E2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96328" y="2208276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CL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781544" y="2112264"/>
            <a:ext cx="3538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251C"/>
                </a:solidFill>
              </a:rPr>
              <a:t>Cloud, sauvegardes &amp; supervision</a:t>
            </a:r>
            <a:endParaRPr lang="en-US" sz="1450" dirty="0"/>
          </a:p>
        </p:txBody>
      </p:sp>
      <p:sp>
        <p:nvSpPr>
          <p:cNvPr id="37" name="Text 35"/>
          <p:cNvSpPr/>
          <p:nvPr/>
        </p:nvSpPr>
        <p:spPr>
          <a:xfrm>
            <a:off x="7214616" y="2523744"/>
            <a:ext cx="408736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526159"/>
                </a:solidFill>
              </a:rPr>
              <a:t>Environnements de production, sauvegardes quotidiennes, certificats, monitoring et alertes.</a:t>
            </a:r>
            <a:endParaRPr lang="en-US" sz="1040" dirty="0"/>
          </a:p>
        </p:txBody>
      </p:sp>
      <p:sp>
        <p:nvSpPr>
          <p:cNvPr id="38" name="Text 36"/>
          <p:cNvSpPr/>
          <p:nvPr/>
        </p:nvSpPr>
        <p:spPr>
          <a:xfrm>
            <a:off x="8366760" y="2980944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234E2B"/>
                </a:solidFill>
              </a:rPr>
              <a:t>240 000 FCFA / mois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6995160" y="3547872"/>
            <a:ext cx="45262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0160">
            <a:solidFill>
              <a:srgbClr val="D8E3D9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7196328" y="3749040"/>
            <a:ext cx="457200" cy="457200"/>
          </a:xfrm>
          <a:prstGeom prst="ellipse">
            <a:avLst/>
          </a:prstGeom>
          <a:solidFill>
            <a:srgbClr val="397443"/>
          </a:solidFill>
          <a:ln w="12700">
            <a:solidFill>
              <a:srgbClr val="39744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96328" y="3854196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SP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781544" y="3758184"/>
            <a:ext cx="3538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251C"/>
                </a:solidFill>
              </a:rPr>
              <a:t>Support correctif &amp; mises à jour</a:t>
            </a:r>
            <a:endParaRPr lang="en-US" sz="1450" dirty="0"/>
          </a:p>
        </p:txBody>
      </p:sp>
      <p:sp>
        <p:nvSpPr>
          <p:cNvPr id="43" name="Text 41"/>
          <p:cNvSpPr/>
          <p:nvPr/>
        </p:nvSpPr>
        <p:spPr>
          <a:xfrm>
            <a:off x="7214616" y="4169664"/>
            <a:ext cx="408736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526159"/>
                </a:solidFill>
              </a:rPr>
              <a:t>Assistance, correction d’anomalies, petites mises à jour, rapport mensuel et support aux administrateurs.</a:t>
            </a:r>
            <a:endParaRPr lang="en-US" sz="1040" dirty="0"/>
          </a:p>
        </p:txBody>
      </p:sp>
      <p:sp>
        <p:nvSpPr>
          <p:cNvPr id="44" name="Text 42"/>
          <p:cNvSpPr/>
          <p:nvPr/>
        </p:nvSpPr>
        <p:spPr>
          <a:xfrm>
            <a:off x="8366760" y="4626864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397443"/>
                </a:solidFill>
              </a:rPr>
              <a:t>350 000 FCFA / mois</a:t>
            </a:r>
            <a:endParaRPr lang="en-US" sz="1250" dirty="0"/>
          </a:p>
        </p:txBody>
      </p:sp>
      <p:sp>
        <p:nvSpPr>
          <p:cNvPr id="45" name="Shape 43"/>
          <p:cNvSpPr/>
          <p:nvPr/>
        </p:nvSpPr>
        <p:spPr>
          <a:xfrm>
            <a:off x="6995160" y="5257800"/>
            <a:ext cx="4526280" cy="667512"/>
          </a:xfrm>
          <a:prstGeom prst="roundRect">
            <a:avLst>
              <a:gd name="adj" fmla="val 5479"/>
            </a:avLst>
          </a:prstGeom>
          <a:solidFill>
            <a:srgbClr val="17251C"/>
          </a:solidFill>
          <a:ln w="12700">
            <a:solidFill>
              <a:srgbClr val="17251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242048" y="5431536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9D928"/>
                </a:solidFill>
              </a:rPr>
              <a:t>TOTAL RÉCURRENT INDICATIF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9372600" y="5385816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590 000 / mois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85800" y="5989320"/>
            <a:ext cx="6126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i="1" dirty="0">
                <a:solidFill>
                  <a:srgbClr val="526159"/>
                </a:solidFill>
              </a:rPr>
              <a:t>SMS, WhatsApp, paiement en ligne, matériel de caisse et prestations évolutives : facturés selon consommation ou devis.</a:t>
            </a:r>
            <a:endParaRPr lang="en-US" sz="92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72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80" kern="0" dirty="0">
                <a:solidFill>
                  <a:srgbClr val="E9D928"/>
                </a:solidFill>
              </a:rPr>
              <a:t>CONCLUSION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640080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Conditions, hypothèses et prochaines étapes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03504" y="109728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6E5D8"/>
                </a:solidFill>
              </a:rPr>
              <a:t>Une validation rapide du périmètre permet de sécuriser le budget et la date de démarrage.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6510528"/>
            <a:ext cx="4846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D8E5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OFFRE ERP • OLIVE DANAROY • JUILLET 2026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155680" y="6473952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8E5D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58368" y="1618488"/>
            <a:ext cx="3401568" cy="3401568"/>
          </a:xfrm>
          <a:prstGeom prst="roundRect">
            <a:avLst>
              <a:gd name="adj" fmla="val 2151"/>
            </a:avLst>
          </a:prstGeom>
          <a:solidFill>
            <a:srgbClr val="26372B"/>
          </a:solidFill>
          <a:ln w="10160">
            <a:solidFill>
              <a:srgbClr val="405545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59536" y="1819656"/>
            <a:ext cx="457200" cy="457200"/>
          </a:xfrm>
          <a:prstGeom prst="ellipse">
            <a:avLst/>
          </a:prstGeom>
          <a:solidFill>
            <a:srgbClr val="397443"/>
          </a:solidFill>
          <a:ln w="12700">
            <a:solidFill>
              <a:srgbClr val="39744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9536" y="1924812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444752" y="1828800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Inclus dans l’offre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60120" y="2487168"/>
            <a:ext cx="276148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140" dirty="0">
                <a:solidFill>
                  <a:srgbClr val="EAF2EB"/>
                </a:solidFill>
              </a:rPr>
              <a:t>Conception, développement et paramétrage</a:t>
            </a:r>
            <a:endParaRPr lang="en-US" sz="1140" dirty="0"/>
          </a:p>
          <a:p>
            <a:pPr marL="177800" indent="-177800">
              <a:buSzPct val="100000"/>
              <a:buChar char="•"/>
            </a:pPr>
            <a:r>
              <a:rPr lang="en-US" sz="1140" dirty="0">
                <a:solidFill>
                  <a:srgbClr val="EAF2EB"/>
                </a:solidFill>
              </a:rPr>
              <a:t>Environnements projet et production initiale</a:t>
            </a:r>
            <a:endParaRPr lang="en-US" sz="1140" dirty="0"/>
          </a:p>
          <a:p>
            <a:pPr marL="177800" indent="-177800">
              <a:buSzPct val="100000"/>
              <a:buChar char="•"/>
            </a:pPr>
            <a:r>
              <a:rPr lang="en-US" sz="1140" dirty="0">
                <a:solidFill>
                  <a:srgbClr val="EAF2EB"/>
                </a:solidFill>
              </a:rPr>
              <a:t>Migration des référentiels et soldes d’ouverture</a:t>
            </a:r>
            <a:endParaRPr lang="en-US" sz="1140" dirty="0"/>
          </a:p>
          <a:p>
            <a:pPr marL="177800" indent="-177800">
              <a:buSzPct val="100000"/>
              <a:buChar char="•"/>
            </a:pPr>
            <a:r>
              <a:rPr lang="en-US" sz="1140" dirty="0">
                <a:solidFill>
                  <a:srgbClr val="EAF2EB"/>
                </a:solidFill>
              </a:rPr>
              <a:t>Recette, formation et guides</a:t>
            </a:r>
            <a:endParaRPr lang="en-US" sz="1140" dirty="0"/>
          </a:p>
          <a:p>
            <a:pPr marL="177800" indent="-177800">
              <a:buSzPct val="100000"/>
              <a:buChar char="•"/>
            </a:pPr>
            <a:r>
              <a:rPr lang="en-US" sz="1140" dirty="0">
                <a:solidFill>
                  <a:srgbClr val="EAF2EB"/>
                </a:solidFill>
              </a:rPr>
              <a:t>Mise en production et 4 semaines d’hypercare</a:t>
            </a:r>
            <a:endParaRPr lang="en-US" sz="1140" dirty="0"/>
          </a:p>
        </p:txBody>
      </p:sp>
      <p:sp>
        <p:nvSpPr>
          <p:cNvPr id="12" name="Shape 10"/>
          <p:cNvSpPr/>
          <p:nvPr/>
        </p:nvSpPr>
        <p:spPr>
          <a:xfrm>
            <a:off x="4407408" y="1618488"/>
            <a:ext cx="3401568" cy="3401568"/>
          </a:xfrm>
          <a:prstGeom prst="roundRect">
            <a:avLst>
              <a:gd name="adj" fmla="val 2151"/>
            </a:avLst>
          </a:prstGeom>
          <a:solidFill>
            <a:srgbClr val="26372B"/>
          </a:solidFill>
          <a:ln w="10160">
            <a:solidFill>
              <a:srgbClr val="405545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08576" y="1819656"/>
            <a:ext cx="457200" cy="457200"/>
          </a:xfrm>
          <a:prstGeom prst="ellipse">
            <a:avLst/>
          </a:prstGeom>
          <a:solidFill>
            <a:srgbClr val="9DB43B"/>
          </a:solidFill>
          <a:ln w="12700">
            <a:solidFill>
              <a:srgbClr val="9DB4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08576" y="1924812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193792" y="1828800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Hypothèses structurantes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709160" y="2487168"/>
            <a:ext cx="276148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110" dirty="0">
                <a:solidFill>
                  <a:srgbClr val="EAF2EB"/>
                </a:solidFill>
              </a:rPr>
              <a:t>Jusqu’à 50 utilisateurs nommés et 5 sites</a:t>
            </a:r>
            <a:endParaRPr lang="en-US" sz="1110" dirty="0"/>
          </a:p>
          <a:p>
            <a:pPr marL="177800" indent="-177800">
              <a:buSzPct val="100000"/>
              <a:buChar char="•"/>
            </a:pPr>
            <a:r>
              <a:rPr lang="en-US" sz="1110" dirty="0">
                <a:solidFill>
                  <a:srgbClr val="EAF2EB"/>
                </a:solidFill>
              </a:rPr>
              <a:t>Données sources disponibles en Excel/CSV nettoyés</a:t>
            </a:r>
            <a:endParaRPr lang="en-US" sz="1110" dirty="0"/>
          </a:p>
          <a:p>
            <a:pPr marL="177800" indent="-177800">
              <a:buSzPct val="100000"/>
              <a:buChar char="•"/>
            </a:pPr>
            <a:r>
              <a:rPr lang="en-US" sz="1110" dirty="0">
                <a:solidFill>
                  <a:srgbClr val="EAF2EB"/>
                </a:solidFill>
              </a:rPr>
              <a:t>Un référent client disponible par activité</a:t>
            </a:r>
            <a:endParaRPr lang="en-US" sz="1110" dirty="0"/>
          </a:p>
          <a:p>
            <a:pPr marL="177800" indent="-177800">
              <a:buSzPct val="100000"/>
              <a:buChar char="•"/>
            </a:pPr>
            <a:r>
              <a:rPr lang="en-US" sz="1110" dirty="0">
                <a:solidFill>
                  <a:srgbClr val="EAF2EB"/>
                </a:solidFill>
              </a:rPr>
              <a:t>Interfaces tierces limitées aux API documentées</a:t>
            </a:r>
            <a:endParaRPr lang="en-US" sz="1110" dirty="0"/>
          </a:p>
          <a:p>
            <a:pPr marL="177800" indent="-177800">
              <a:buSzPct val="100000"/>
              <a:buChar char="•"/>
            </a:pPr>
            <a:r>
              <a:rPr lang="en-US" sz="1110" dirty="0">
                <a:solidFill>
                  <a:srgbClr val="EAF2EB"/>
                </a:solidFill>
              </a:rPr>
              <a:t>Plan comptable et règles de gestion fournis par le client</a:t>
            </a:r>
            <a:endParaRPr lang="en-US" sz="1110" dirty="0"/>
          </a:p>
        </p:txBody>
      </p:sp>
      <p:sp>
        <p:nvSpPr>
          <p:cNvPr id="17" name="Shape 15"/>
          <p:cNvSpPr/>
          <p:nvPr/>
        </p:nvSpPr>
        <p:spPr>
          <a:xfrm>
            <a:off x="8156448" y="1618488"/>
            <a:ext cx="3401568" cy="3401568"/>
          </a:xfrm>
          <a:prstGeom prst="roundRect">
            <a:avLst>
              <a:gd name="adj" fmla="val 2151"/>
            </a:avLst>
          </a:prstGeom>
          <a:solidFill>
            <a:srgbClr val="26372B"/>
          </a:solidFill>
          <a:ln w="10160">
            <a:solidFill>
              <a:srgbClr val="405545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357616" y="1819656"/>
            <a:ext cx="457200" cy="457200"/>
          </a:xfrm>
          <a:prstGeom prst="ellipse">
            <a:avLst/>
          </a:prstGeom>
          <a:solidFill>
            <a:srgbClr val="D69A22"/>
          </a:solidFill>
          <a:ln w="12700">
            <a:solidFill>
              <a:srgbClr val="D69A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57616" y="1924812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?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942832" y="1828800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À confirmer au cadrage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458200" y="2487168"/>
            <a:ext cx="276148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110" dirty="0">
                <a:solidFill>
                  <a:srgbClr val="EAF2EB"/>
                </a:solidFill>
              </a:rPr>
              <a:t>Nombre exact de sites, caisses et dépôts</a:t>
            </a:r>
            <a:endParaRPr lang="en-US" sz="1110" dirty="0"/>
          </a:p>
          <a:p>
            <a:pPr marL="177800" indent="-177800">
              <a:buSzPct val="100000"/>
              <a:buChar char="•"/>
            </a:pPr>
            <a:r>
              <a:rPr lang="en-US" sz="1110" dirty="0">
                <a:solidFill>
                  <a:srgbClr val="EAF2EB"/>
                </a:solidFill>
              </a:rPr>
              <a:t>Périmètre comptable et paie</a:t>
            </a:r>
            <a:endParaRPr lang="en-US" sz="1110" dirty="0"/>
          </a:p>
          <a:p>
            <a:pPr marL="177800" indent="-177800">
              <a:buSzPct val="100000"/>
              <a:buChar char="•"/>
            </a:pPr>
            <a:r>
              <a:rPr lang="en-US" sz="1110" dirty="0">
                <a:solidFill>
                  <a:srgbClr val="EAF2EB"/>
                </a:solidFill>
              </a:rPr>
              <a:t>Historique à migrer et qualité des données</a:t>
            </a:r>
            <a:endParaRPr lang="en-US" sz="1110" dirty="0"/>
          </a:p>
          <a:p>
            <a:pPr marL="177800" indent="-177800">
              <a:buSzPct val="100000"/>
              <a:buChar char="•"/>
            </a:pPr>
            <a:r>
              <a:rPr lang="en-US" sz="1110" dirty="0">
                <a:solidFill>
                  <a:srgbClr val="EAF2EB"/>
                </a:solidFill>
              </a:rPr>
              <a:t>Matériel POS, imprimantes et lecteurs</a:t>
            </a:r>
            <a:endParaRPr lang="en-US" sz="1110" dirty="0"/>
          </a:p>
          <a:p>
            <a:pPr marL="177800" indent="-177800">
              <a:buSzPct val="100000"/>
              <a:buChar char="•"/>
            </a:pPr>
            <a:r>
              <a:rPr lang="en-US" sz="1110" dirty="0">
                <a:solidFill>
                  <a:srgbClr val="EAF2EB"/>
                </a:solidFill>
              </a:rPr>
              <a:t>Intégrations bancaires, mobile money, SMS ou WhatsApp</a:t>
            </a:r>
            <a:endParaRPr lang="en-US" sz="1110" dirty="0"/>
          </a:p>
        </p:txBody>
      </p:sp>
      <p:sp>
        <p:nvSpPr>
          <p:cNvPr id="22" name="Shape 20"/>
          <p:cNvSpPr/>
          <p:nvPr/>
        </p:nvSpPr>
        <p:spPr>
          <a:xfrm>
            <a:off x="658368" y="5358384"/>
            <a:ext cx="10972800" cy="713232"/>
          </a:xfrm>
          <a:prstGeom prst="roundRect">
            <a:avLst>
              <a:gd name="adj" fmla="val 6410"/>
            </a:avLst>
          </a:prstGeom>
          <a:solidFill>
            <a:srgbClr val="397443"/>
          </a:solidFill>
          <a:ln w="12700">
            <a:solidFill>
              <a:srgbClr val="397443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60120" y="5586984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E9D928"/>
                </a:solidFill>
              </a:rPr>
              <a:t>PROCHAINES ÉTAPES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697480" y="5568696"/>
            <a:ext cx="5897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FFFFFF"/>
                </a:solidFill>
              </a:rPr>
              <a:t>1. Valider  →  2. Cadrer  →  3. Contractualiser  →  4. Lancer</a:t>
            </a:r>
            <a:endParaRPr lang="en-US" sz="1230" dirty="0"/>
          </a:p>
        </p:txBody>
      </p:sp>
      <p:sp>
        <p:nvSpPr>
          <p:cNvPr id="25" name="Text 23"/>
          <p:cNvSpPr/>
          <p:nvPr/>
        </p:nvSpPr>
        <p:spPr>
          <a:xfrm>
            <a:off x="8805672" y="547725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80" b="1" dirty="0">
                <a:solidFill>
                  <a:srgbClr val="FFFFFF"/>
                </a:solidFill>
              </a:rPr>
              <a:t>olivedanaroy@gmail.com</a:t>
            </a:r>
            <a:endParaRPr lang="en-US" sz="1080" dirty="0"/>
          </a:p>
          <a:p>
            <a:pPr algn="r" indent="0" marL="0">
              <a:buNone/>
            </a:pPr>
            <a:r>
              <a:rPr lang="en-US" sz="1080" b="1" dirty="0">
                <a:solidFill>
                  <a:srgbClr val="FFFFFF"/>
                </a:solidFill>
              </a:rPr>
              <a:t>(+225) 07 77 99 99 48</a:t>
            </a:r>
            <a:endParaRPr lang="en-US" sz="10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OLIVE DANAROY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ERP de gestion intégré — OLIVE DANAROY</dc:title>
  <dc:subject>Offre technique et financière — ERP de gestion intégré</dc:subject>
  <dc:creator>Proposition préparée pour OLIVE DANAROY</dc:creator>
  <cp:lastModifiedBy>Proposition préparée pour OLIVE DANAROY</cp:lastModifiedBy>
  <cp:revision>1</cp:revision>
  <dcterms:created xsi:type="dcterms:W3CDTF">2026-07-16T15:29:32Z</dcterms:created>
  <dcterms:modified xsi:type="dcterms:W3CDTF">2026-07-16T15:29:32Z</dcterms:modified>
</cp:coreProperties>
</file>